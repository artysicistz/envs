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3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21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327" y="507"/>
      </p:cViewPr>
      <p:guideLst>
        <p:guide orient="horz" pos="2150"/>
        <p:guide pos="38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microsoft.com/office/2007/relationships/hdphoto" Target="../media/hdphoto1.wdp"/><Relationship Id="rId17" Type="http://schemas.openxmlformats.org/officeDocument/2006/relationships/image" Target="../media/image13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5" Type="http://schemas.microsoft.com/office/2007/relationships/hdphoto" Target="../media/hdphoto2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1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6.png"/><Relationship Id="rId7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3.wdp"/><Relationship Id="rId4" Type="http://schemas.openxmlformats.org/officeDocument/2006/relationships/image" Target="../media/image14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59800" y="1634481"/>
            <a:ext cx="2122368" cy="395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44FCD"/>
                </a:solidFill>
              </a:rPr>
              <a:t>A. s</a:t>
            </a:r>
            <a:r>
              <a:rPr lang="en-US" altLang="zh-CN" sz="1200" b="1" dirty="0">
                <a:solidFill>
                  <a:srgbClr val="444FCD"/>
                </a:solidFill>
              </a:rPr>
              <a:t>ample &amp; cluster actions</a:t>
            </a:r>
            <a:endParaRPr lang="en-US" sz="1200" b="1" dirty="0">
              <a:solidFill>
                <a:srgbClr val="444FCD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580745" y="1623231"/>
            <a:ext cx="1067721" cy="456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44FCD"/>
                </a:solidFill>
              </a:rPr>
              <a:t>D. </a:t>
            </a:r>
            <a:r>
              <a:rPr lang="en-US" altLang="zh-CN" sz="1200" b="1" dirty="0">
                <a:solidFill>
                  <a:srgbClr val="444FCD"/>
                </a:solidFill>
              </a:rPr>
              <a:t>score</a:t>
            </a:r>
            <a:endParaRPr lang="en-US" sz="1200" b="1" dirty="0">
              <a:solidFill>
                <a:srgbClr val="444FCD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884078" y="1344670"/>
                <a:ext cx="3319359" cy="318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28600" indent="-228600" algn="ctr">
                  <a:buAutoNum type="arabicPeriod"/>
                </a:pPr>
                <a:r>
                  <a:rPr lang="en-US" sz="1600" b="1" dirty="0">
                    <a:solidFill>
                      <a:srgbClr val="444FCD"/>
                    </a:solidFill>
                  </a:rPr>
                  <a:t>Search and Collect (frozen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solidFill>
                              <a:srgbClr val="444FC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srgbClr val="444FCD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srgbClr val="444FCD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b="1" dirty="0">
                    <a:solidFill>
                      <a:srgbClr val="444FCD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078" y="1344670"/>
                <a:ext cx="3319359" cy="318890"/>
              </a:xfrm>
              <a:prstGeom prst="rect">
                <a:avLst/>
              </a:prstGeom>
              <a:blipFill rotWithShape="1">
                <a:blip r:embed="rId3"/>
                <a:stretch>
                  <a:fillRect l="-208" t="-2109" r="-188" b="-1836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7834514" y="1234351"/>
            <a:ext cx="2797443" cy="19853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7945523" y="1695100"/>
                <a:ext cx="2595356" cy="128935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sz="1100" b="1" dirty="0">
                    <a:solidFill>
                      <a:schemeClr val="tx1"/>
                    </a:solidFill>
                  </a:rPr>
                  <a:t>Keep successful trajectories</a:t>
                </a:r>
              </a:p>
              <a:p>
                <a:pPr marL="171450" indent="-1714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sz="1100" b="1" dirty="0">
                    <a:solidFill>
                      <a:schemeClr val="tx1"/>
                    </a:solidFill>
                  </a:rPr>
                  <a:t>Re-rollout tasks with &lt;15 success</a:t>
                </a:r>
              </a:p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sz="1100" b="1" dirty="0">
                    <a:solidFill>
                      <a:schemeClr val="tx1"/>
                    </a:solidFill>
                  </a:rPr>
                  <a:t>Weight each task: </a:t>
                </a:r>
                <a:endParaRPr lang="en-US" sz="11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114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2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2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clip</m:t>
                      </m:r>
                      <m:d>
                        <m:dPr>
                          <m:ctrlP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12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𝑆𝑅</m:t>
                                          </m:r>
                                        </m:e>
                                        <m:sub>
                                          <m:r>
                                            <a:rPr lang="en-US" sz="1200" b="0" i="1" dirty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sz="12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12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5523" y="1695100"/>
                <a:ext cx="2595356" cy="1289355"/>
              </a:xfrm>
              <a:prstGeom prst="rect">
                <a:avLst/>
              </a:prstGeom>
              <a:blipFill rotWithShape="1">
                <a:blip r:embed="rId4"/>
                <a:stretch>
                  <a:fillRect l="-260" t="-515" r="-225" b="-447"/>
                </a:stretch>
              </a:blip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8055523" y="1366376"/>
            <a:ext cx="2355462" cy="318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444FCD"/>
                </a:solidFill>
              </a:rPr>
              <a:t>2. Curate and Weight</a:t>
            </a:r>
          </a:p>
        </p:txBody>
      </p:sp>
      <p:sp>
        <p:nvSpPr>
          <p:cNvPr id="12" name="Rectangle: Rounded Corners 11"/>
          <p:cNvSpPr/>
          <p:nvPr/>
        </p:nvSpPr>
        <p:spPr>
          <a:xfrm>
            <a:off x="7866703" y="1292113"/>
            <a:ext cx="2662030" cy="1817570"/>
          </a:xfrm>
          <a:prstGeom prst="roundRect">
            <a:avLst>
              <a:gd name="adj" fmla="val 3680"/>
            </a:avLst>
          </a:prstGeom>
          <a:noFill/>
          <a:ln w="19050">
            <a:solidFill>
              <a:srgbClr val="0E17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064802" y="1642281"/>
            <a:ext cx="1098713" cy="3952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44FCD"/>
                </a:solidFill>
              </a:rPr>
              <a:t>B.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1287" y="1695100"/>
            <a:ext cx="1067721" cy="3002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444FCD"/>
                </a:solidFill>
              </a:rPr>
              <a:t>C. repeat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588770" y="2003062"/>
            <a:ext cx="5980160" cy="2886439"/>
            <a:chOff x="1570699" y="2012995"/>
            <a:chExt cx="5919950" cy="2886439"/>
          </a:xfrm>
        </p:grpSpPr>
        <p:sp>
          <p:nvSpPr>
            <p:cNvPr id="16" name="Rectangle 15"/>
            <p:cNvSpPr/>
            <p:nvPr/>
          </p:nvSpPr>
          <p:spPr>
            <a:xfrm>
              <a:off x="6636874" y="3536842"/>
              <a:ext cx="853775" cy="28031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</a:rPr>
                <a:t>Score: 0</a:t>
              </a:r>
            </a:p>
          </p:txBody>
        </p:sp>
        <p:grpSp>
          <p:nvGrpSpPr>
            <p:cNvPr id="17" name="Group 16"/>
            <p:cNvGrpSpPr/>
            <p:nvPr/>
          </p:nvGrpSpPr>
          <p:grpSpPr>
            <a:xfrm>
              <a:off x="1570699" y="2012995"/>
              <a:ext cx="5919950" cy="2886439"/>
              <a:chOff x="1436335" y="3074709"/>
              <a:chExt cx="5919950" cy="2886439"/>
            </a:xfrm>
          </p:grpSpPr>
          <p:grpSp>
            <p:nvGrpSpPr>
              <p:cNvPr id="18" name="Group 17"/>
              <p:cNvGrpSpPr/>
              <p:nvPr/>
            </p:nvGrpSpPr>
            <p:grpSpPr>
              <a:xfrm>
                <a:off x="1436335" y="3074709"/>
                <a:ext cx="5919950" cy="2886439"/>
                <a:chOff x="1650664" y="2095135"/>
                <a:chExt cx="5919950" cy="2886439"/>
              </a:xfrm>
            </p:grpSpPr>
            <p:sp>
              <p:nvSpPr>
                <p:cNvPr id="20" name="Rectangle: Rounded Corners 19"/>
                <p:cNvSpPr/>
                <p:nvPr/>
              </p:nvSpPr>
              <p:spPr>
                <a:xfrm>
                  <a:off x="1650664" y="2095135"/>
                  <a:ext cx="3805195" cy="2886439"/>
                </a:xfrm>
                <a:prstGeom prst="roundRect">
                  <a:avLst>
                    <a:gd name="adj" fmla="val 2580"/>
                  </a:avLst>
                </a:prstGeom>
                <a:solidFill>
                  <a:schemeClr val="accent1">
                    <a:lumMod val="20000"/>
                    <a:lumOff val="80000"/>
                    <a:alpha val="51000"/>
                  </a:schemeClr>
                </a:solidFill>
                <a:ln w="15875">
                  <a:solidFill>
                    <a:srgbClr val="0E17C8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21" name="Group 20"/>
                <p:cNvGrpSpPr/>
                <p:nvPr/>
              </p:nvGrpSpPr>
              <p:grpSpPr>
                <a:xfrm>
                  <a:off x="1840109" y="2202677"/>
                  <a:ext cx="5730505" cy="2599653"/>
                  <a:chOff x="2251442" y="2119409"/>
                  <a:chExt cx="5730505" cy="2599653"/>
                </a:xfrm>
              </p:grpSpPr>
              <p:grpSp>
                <p:nvGrpSpPr>
                  <p:cNvPr id="29" name="Group 28"/>
                  <p:cNvGrpSpPr/>
                  <p:nvPr/>
                </p:nvGrpSpPr>
                <p:grpSpPr>
                  <a:xfrm>
                    <a:off x="2251442" y="2119409"/>
                    <a:ext cx="1977602" cy="2599653"/>
                    <a:chOff x="1875605" y="2288191"/>
                    <a:chExt cx="1977602" cy="2599653"/>
                  </a:xfrm>
                </p:grpSpPr>
                <p:cxnSp>
                  <p:nvCxnSpPr>
                    <p:cNvPr id="52" name="Straight Arrow Connector 51"/>
                    <p:cNvCxnSpPr>
                      <a:stCxn id="58" idx="3"/>
                    </p:cNvCxnSpPr>
                    <p:nvPr/>
                  </p:nvCxnSpPr>
                  <p:spPr>
                    <a:xfrm flipV="1">
                      <a:off x="2636686" y="2446514"/>
                      <a:ext cx="696652" cy="1078867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3" name="Straight Arrow Connector 52"/>
                    <p:cNvCxnSpPr>
                      <a:stCxn id="58" idx="3"/>
                    </p:cNvCxnSpPr>
                    <p:nvPr/>
                  </p:nvCxnSpPr>
                  <p:spPr>
                    <a:xfrm flipV="1">
                      <a:off x="2636686" y="2862301"/>
                      <a:ext cx="676966" cy="66308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4" name="Straight Arrow Connector 53"/>
                    <p:cNvCxnSpPr>
                      <a:stCxn id="58" idx="3"/>
                    </p:cNvCxnSpPr>
                    <p:nvPr/>
                  </p:nvCxnSpPr>
                  <p:spPr>
                    <a:xfrm flipV="1">
                      <a:off x="2636686" y="3309889"/>
                      <a:ext cx="676966" cy="215492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5" name="Straight Arrow Connector 54"/>
                    <p:cNvCxnSpPr>
                      <a:stCxn id="58" idx="3"/>
                    </p:cNvCxnSpPr>
                    <p:nvPr/>
                  </p:nvCxnSpPr>
                  <p:spPr>
                    <a:xfrm>
                      <a:off x="2636686" y="3525381"/>
                      <a:ext cx="676966" cy="688494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6" name="Straight Arrow Connector 55"/>
                    <p:cNvCxnSpPr>
                      <a:stCxn id="58" idx="3"/>
                    </p:cNvCxnSpPr>
                    <p:nvPr/>
                  </p:nvCxnSpPr>
                  <p:spPr>
                    <a:xfrm>
                      <a:off x="2636686" y="3525381"/>
                      <a:ext cx="676966" cy="1164845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7" name="Group 56"/>
                    <p:cNvGrpSpPr/>
                    <p:nvPr/>
                  </p:nvGrpSpPr>
                  <p:grpSpPr>
                    <a:xfrm>
                      <a:off x="3388441" y="2288191"/>
                      <a:ext cx="464766" cy="787055"/>
                      <a:chOff x="3388441" y="2288191"/>
                      <a:chExt cx="464766" cy="787055"/>
                    </a:xfrm>
                  </p:grpSpPr>
                  <p:sp>
                    <p:nvSpPr>
                      <p:cNvPr id="70" name="Rectangle: Rounded Corners 69"/>
                      <p:cNvSpPr/>
                      <p:nvPr/>
                    </p:nvSpPr>
                    <p:spPr>
                      <a:xfrm>
                        <a:off x="3388441" y="2314087"/>
                        <a:ext cx="464766" cy="761159"/>
                      </a:xfrm>
                      <a:prstGeom prst="roundRect">
                        <a:avLst>
                          <a:gd name="adj" fmla="val 14513"/>
                        </a:avLst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1" name="Rectangle 70"/>
                          <p:cNvSpPr/>
                          <p:nvPr/>
                        </p:nvSpPr>
                        <p:spPr>
                          <a:xfrm>
                            <a:off x="3538872" y="2288191"/>
                            <a:ext cx="227807" cy="3718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1" name="Rectangle 70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38872" y="2288191"/>
                            <a:ext cx="227807" cy="371819"/>
                          </a:xfrm>
                          <a:prstGeom prst="rect">
                            <a:avLst/>
                          </a:prstGeom>
                          <a:blipFill rotWithShape="1">
                            <a:blip r:embed="rId5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72" name="Rectangle 71"/>
                          <p:cNvSpPr/>
                          <p:nvPr/>
                        </p:nvSpPr>
                        <p:spPr>
                          <a:xfrm>
                            <a:off x="3538872" y="2657719"/>
                            <a:ext cx="227807" cy="3718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72" name="Rectangle 71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38872" y="2657719"/>
                            <a:ext cx="227807" cy="371819"/>
                          </a:xfrm>
                          <a:prstGeom prst="rect">
                            <a:avLst/>
                          </a:prstGeom>
                          <a:blipFill rotWithShape="1">
                            <a:blip r:embed="rId5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sp>
                  <p:nvSpPr>
                    <p:cNvPr id="58" name="Rectangle: Rounded Corners 57"/>
                    <p:cNvSpPr/>
                    <p:nvPr/>
                  </p:nvSpPr>
                  <p:spPr>
                    <a:xfrm>
                      <a:off x="1875605" y="3287270"/>
                      <a:ext cx="761081" cy="476222"/>
                    </a:xfrm>
                    <a:prstGeom prst="roundRect">
                      <a:avLst>
                        <a:gd name="adj" fmla="val 12775"/>
                      </a:avLst>
                    </a:prstGeom>
                    <a:solidFill>
                      <a:srgbClr val="B6D5F9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Same prompt</a:t>
                      </a:r>
                    </a:p>
                  </p:txBody>
                </p:sp>
                <p:grpSp>
                  <p:nvGrpSpPr>
                    <p:cNvPr id="59" name="Group 58"/>
                    <p:cNvGrpSpPr/>
                    <p:nvPr/>
                  </p:nvGrpSpPr>
                  <p:grpSpPr>
                    <a:xfrm>
                      <a:off x="3388441" y="3984100"/>
                      <a:ext cx="464766" cy="427393"/>
                      <a:chOff x="3928845" y="3600415"/>
                      <a:chExt cx="464766" cy="427393"/>
                    </a:xfrm>
                  </p:grpSpPr>
                  <p:sp>
                    <p:nvSpPr>
                      <p:cNvPr id="68" name="Rectangle: Rounded Corners 67"/>
                      <p:cNvSpPr/>
                      <p:nvPr/>
                    </p:nvSpPr>
                    <p:spPr>
                      <a:xfrm>
                        <a:off x="3928845" y="3632572"/>
                        <a:ext cx="464766" cy="395236"/>
                      </a:xfrm>
                      <a:prstGeom prst="roundRect">
                        <a:avLst>
                          <a:gd name="adj" fmla="val 14513"/>
                        </a:avLst>
                      </a:prstGeom>
                      <a:solidFill>
                        <a:srgbClr val="F8D0D5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9" name="Rectangle 68"/>
                          <p:cNvSpPr/>
                          <p:nvPr/>
                        </p:nvSpPr>
                        <p:spPr>
                          <a:xfrm>
                            <a:off x="4074700" y="3600415"/>
                            <a:ext cx="227807" cy="395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9" name="Rectangle 68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074700" y="3600415"/>
                            <a:ext cx="227807" cy="395236"/>
                          </a:xfrm>
                          <a:prstGeom prst="rect">
                            <a:avLst/>
                          </a:prstGeom>
                          <a:blipFill rotWithShape="1">
                            <a:blip r:embed="rId6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cxnSp>
                  <p:nvCxnSpPr>
                    <p:cNvPr id="60" name="Straight Arrow Connector 59"/>
                    <p:cNvCxnSpPr>
                      <a:stCxn id="58" idx="3"/>
                    </p:cNvCxnSpPr>
                    <p:nvPr/>
                  </p:nvCxnSpPr>
                  <p:spPr>
                    <a:xfrm>
                      <a:off x="2636686" y="3525381"/>
                      <a:ext cx="676966" cy="242528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61" name="Group 60"/>
                    <p:cNvGrpSpPr/>
                    <p:nvPr/>
                  </p:nvGrpSpPr>
                  <p:grpSpPr>
                    <a:xfrm>
                      <a:off x="3388441" y="3149059"/>
                      <a:ext cx="464766" cy="787055"/>
                      <a:chOff x="3388441" y="2288191"/>
                      <a:chExt cx="464766" cy="787055"/>
                    </a:xfrm>
                  </p:grpSpPr>
                  <p:sp>
                    <p:nvSpPr>
                      <p:cNvPr id="65" name="Rectangle: Rounded Corners 64"/>
                      <p:cNvSpPr/>
                      <p:nvPr/>
                    </p:nvSpPr>
                    <p:spPr>
                      <a:xfrm>
                        <a:off x="3388441" y="2314087"/>
                        <a:ext cx="464766" cy="761159"/>
                      </a:xfrm>
                      <a:prstGeom prst="roundRect">
                        <a:avLst>
                          <a:gd name="adj" fmla="val 14513"/>
                        </a:avLst>
                      </a:prstGeom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6" name="Rectangle 65"/>
                          <p:cNvSpPr/>
                          <p:nvPr/>
                        </p:nvSpPr>
                        <p:spPr>
                          <a:xfrm>
                            <a:off x="3538872" y="2288191"/>
                            <a:ext cx="227807" cy="3718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6" name="Rectangle 65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38872" y="2288191"/>
                            <a:ext cx="227807" cy="371819"/>
                          </a:xfrm>
                          <a:prstGeom prst="rect">
                            <a:avLst/>
                          </a:prstGeom>
                          <a:blipFill rotWithShape="1">
                            <a:blip r:embed="rId7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7" name="Rectangle 66"/>
                          <p:cNvSpPr/>
                          <p:nvPr/>
                        </p:nvSpPr>
                        <p:spPr>
                          <a:xfrm>
                            <a:off x="3538872" y="2657719"/>
                            <a:ext cx="227807" cy="37181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7" name="Rectangle 66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3538872" y="2657719"/>
                            <a:ext cx="227807" cy="371819"/>
                          </a:xfrm>
                          <a:prstGeom prst="rect">
                            <a:avLst/>
                          </a:prstGeom>
                          <a:blipFill rotWithShape="1">
                            <a:blip r:embed="rId7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p:grpSp>
                  <p:nvGrpSpPr>
                    <p:cNvPr id="62" name="Group 61"/>
                    <p:cNvGrpSpPr/>
                    <p:nvPr/>
                  </p:nvGrpSpPr>
                  <p:grpSpPr>
                    <a:xfrm>
                      <a:off x="3388441" y="4460451"/>
                      <a:ext cx="464766" cy="427393"/>
                      <a:chOff x="3928845" y="3600415"/>
                      <a:chExt cx="464766" cy="427393"/>
                    </a:xfrm>
                  </p:grpSpPr>
                  <p:sp>
                    <p:nvSpPr>
                      <p:cNvPr id="63" name="Rectangle: Rounded Corners 62"/>
                      <p:cNvSpPr/>
                      <p:nvPr/>
                    </p:nvSpPr>
                    <p:spPr>
                      <a:xfrm>
                        <a:off x="3928845" y="3632572"/>
                        <a:ext cx="464766" cy="395236"/>
                      </a:xfrm>
                      <a:prstGeom prst="roundRect">
                        <a:avLst>
                          <a:gd name="adj" fmla="val 14513"/>
                        </a:avLst>
                      </a:prstGeom>
                      <a:solidFill>
                        <a:srgbClr val="F8D0D5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mc:AlternateContent xmlns:mc="http://schemas.openxmlformats.org/markup-compatibility/2006" xmlns:a14="http://schemas.microsoft.com/office/drawing/2010/main">
                    <mc:Choice Requires="a14">
                      <p:sp>
                        <p:nvSpPr>
                          <p:cNvPr id="64" name="Rectangle 63"/>
                          <p:cNvSpPr/>
                          <p:nvPr/>
                        </p:nvSpPr>
                        <p:spPr>
                          <a:xfrm>
                            <a:off x="4074700" y="3600415"/>
                            <a:ext cx="227807" cy="395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sSub>
                                    <m:sSubPr>
                                      <m:ctrlPr>
                                        <a:rPr lang="en-US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b>
                                  </m:sSub>
                                </m:oMath>
                              </m:oMathPara>
                            </a14:m>
                            <a:endParaRPr lang="en-US" sz="1200" dirty="0">
                              <a:solidFill>
                                <a:srgbClr val="444FCD"/>
                              </a:solidFill>
                            </a:endParaRPr>
                          </a:p>
                        </p:txBody>
                      </p:sp>
                    </mc:Choice>
                    <mc:Fallback xmlns="">
                      <p:sp>
                        <p:nvSpPr>
                          <p:cNvPr id="64" name="Rectangle 63"/>
                          <p:cNvSpPr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074700" y="3600415"/>
                            <a:ext cx="227807" cy="395236"/>
                          </a:xfrm>
                          <a:prstGeom prst="rect">
                            <a:avLst/>
                          </a:prstGeom>
                          <a:blipFill rotWithShape="1">
                            <a:blip r:embed="rId8"/>
                          </a:blip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/>
                          <a:lstStyle/>
                          <a:p>
                            <a:r>
                              <a:rPr lang="zh-CN" alt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  <p:sp>
                <p:nvSpPr>
                  <p:cNvPr id="30" name="Rectangle 29"/>
                  <p:cNvSpPr/>
                  <p:nvPr/>
                </p:nvSpPr>
                <p:spPr>
                  <a:xfrm>
                    <a:off x="4417524" y="3931276"/>
                    <a:ext cx="1423992" cy="3952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chemeClr val="tx1"/>
                        </a:solidFill>
                      </a:rPr>
                      <a:t>M</a:t>
                    </a:r>
                    <a:r>
                      <a:rPr lang="en-US" altLang="zh-CN" sz="1200" b="1" dirty="0">
                        <a:solidFill>
                          <a:schemeClr val="tx1"/>
                        </a:solidFill>
                      </a:rPr>
                      <a:t>inority</a:t>
                    </a:r>
                    <a:r>
                      <a:rPr lang="en-US" sz="1200" b="1" dirty="0">
                        <a:solidFill>
                          <a:schemeClr val="tx1"/>
                        </a:solidFill>
                      </a:rPr>
                      <a:t> Actions:</a:t>
                    </a:r>
                  </a:p>
                </p:txBody>
              </p:sp>
              <p:sp>
                <p:nvSpPr>
                  <p:cNvPr id="31" name="Right Brace 30"/>
                  <p:cNvSpPr/>
                  <p:nvPr/>
                </p:nvSpPr>
                <p:spPr>
                  <a:xfrm>
                    <a:off x="4307617" y="3847475"/>
                    <a:ext cx="178678" cy="871587"/>
                  </a:xfrm>
                  <a:prstGeom prst="rightBrace">
                    <a:avLst>
                      <a:gd name="adj1" fmla="val 50979"/>
                      <a:gd name="adj2" fmla="val 50000"/>
                    </a:avLst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32" name="Group 31"/>
                  <p:cNvGrpSpPr/>
                  <p:nvPr/>
                </p:nvGrpSpPr>
                <p:grpSpPr>
                  <a:xfrm>
                    <a:off x="4385163" y="2235914"/>
                    <a:ext cx="1731307" cy="599887"/>
                    <a:chOff x="4385163" y="2235914"/>
                    <a:chExt cx="1731307" cy="599887"/>
                  </a:xfrm>
                </p:grpSpPr>
                <p:cxnSp>
                  <p:nvCxnSpPr>
                    <p:cNvPr id="48" name="Straight Arrow Connector 47"/>
                    <p:cNvCxnSpPr>
                      <a:endCxn id="43" idx="2"/>
                    </p:cNvCxnSpPr>
                    <p:nvPr/>
                  </p:nvCxnSpPr>
                  <p:spPr>
                    <a:xfrm>
                      <a:off x="4385163" y="2544068"/>
                      <a:ext cx="1731307" cy="0"/>
                    </a:xfrm>
                    <a:prstGeom prst="straightConnector1">
                      <a:avLst/>
                    </a:prstGeom>
                    <a:ln w="15875">
                      <a:solidFill>
                        <a:schemeClr val="tx1"/>
                      </a:solidFill>
                      <a:tailEnd type="arrow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9" name="Group 48"/>
                    <p:cNvGrpSpPr/>
                    <p:nvPr/>
                  </p:nvGrpSpPr>
                  <p:grpSpPr>
                    <a:xfrm>
                      <a:off x="4433684" y="2235914"/>
                      <a:ext cx="1348391" cy="599887"/>
                      <a:chOff x="4457391" y="2245569"/>
                      <a:chExt cx="1348391" cy="599887"/>
                    </a:xfrm>
                  </p:grpSpPr>
                  <p:sp>
                    <p:nvSpPr>
                      <p:cNvPr id="50" name="Rectangle 49"/>
                      <p:cNvSpPr/>
                      <p:nvPr/>
                    </p:nvSpPr>
                    <p:spPr>
                      <a:xfrm>
                        <a:off x="4457391" y="2245569"/>
                        <a:ext cx="1348391" cy="28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200" b="1" dirty="0">
                            <a:solidFill>
                              <a:schemeClr val="tx1"/>
                            </a:solidFill>
                          </a:rPr>
                          <a:t>Majority Action:</a:t>
                        </a:r>
                      </a:p>
                    </p:txBody>
                  </p:sp>
                  <p:sp>
                    <p:nvSpPr>
                      <p:cNvPr id="51" name="Rectangle 50"/>
                      <p:cNvSpPr/>
                      <p:nvPr/>
                    </p:nvSpPr>
                    <p:spPr>
                      <a:xfrm>
                        <a:off x="4742451" y="2565141"/>
                        <a:ext cx="1029432" cy="280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sz="1200" b="1" dirty="0">
                            <a:solidFill>
                              <a:schemeClr val="tx1"/>
                            </a:solidFill>
                          </a:rPr>
                          <a:t>B</a:t>
                        </a:r>
                        <a:r>
                          <a:rPr lang="en-US" altLang="zh-CN" sz="1200" b="1" dirty="0">
                            <a:solidFill>
                              <a:schemeClr val="tx1"/>
                            </a:solidFill>
                          </a:rPr>
                          <a:t>ranching</a:t>
                        </a:r>
                        <a:endParaRPr lang="en-US" sz="1200" b="1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p:grpSp>
              </p:grpSp>
              <p:grpSp>
                <p:nvGrpSpPr>
                  <p:cNvPr id="33" name="Group 32"/>
                  <p:cNvGrpSpPr/>
                  <p:nvPr/>
                </p:nvGrpSpPr>
                <p:grpSpPr>
                  <a:xfrm>
                    <a:off x="6116470" y="2447839"/>
                    <a:ext cx="1053326" cy="192457"/>
                    <a:chOff x="6116470" y="2447839"/>
                    <a:chExt cx="1053326" cy="192457"/>
                  </a:xfrm>
                </p:grpSpPr>
                <p:sp>
                  <p:nvSpPr>
                    <p:cNvPr id="43" name="Oval 42"/>
                    <p:cNvSpPr/>
                    <p:nvPr/>
                  </p:nvSpPr>
                  <p:spPr>
                    <a:xfrm>
                      <a:off x="6116470" y="2447839"/>
                      <a:ext cx="192457" cy="192457"/>
                    </a:xfrm>
                    <a:prstGeom prst="ellipse">
                      <a:avLst/>
                    </a:prstGeom>
                    <a:solidFill>
                      <a:srgbClr val="B6D5F9"/>
                    </a:solidFill>
                    <a:ln w="158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cxnSp>
                  <p:nvCxnSpPr>
                    <p:cNvPr id="44" name="Straight Connector 43"/>
                    <p:cNvCxnSpPr>
                      <a:stCxn id="43" idx="6"/>
                    </p:cNvCxnSpPr>
                    <p:nvPr/>
                  </p:nvCxnSpPr>
                  <p:spPr>
                    <a:xfrm>
                      <a:off x="6308927" y="2544068"/>
                      <a:ext cx="219075" cy="0"/>
                    </a:xfrm>
                    <a:prstGeom prst="line">
                      <a:avLst/>
                    </a:prstGeom>
                    <a:ln w="15875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45" name="Oval 44"/>
                    <p:cNvSpPr/>
                    <p:nvPr/>
                  </p:nvSpPr>
                  <p:spPr>
                    <a:xfrm>
                      <a:off x="6527121" y="2447839"/>
                      <a:ext cx="192457" cy="192457"/>
                    </a:xfrm>
                    <a:prstGeom prst="ellipse">
                      <a:avLst/>
                    </a:prstGeom>
                    <a:solidFill>
                      <a:srgbClr val="B6D5F9"/>
                    </a:solidFill>
                    <a:ln w="158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6" name="Oval 45"/>
                    <p:cNvSpPr/>
                    <p:nvPr/>
                  </p:nvSpPr>
                  <p:spPr>
                    <a:xfrm>
                      <a:off x="6977339" y="2447839"/>
                      <a:ext cx="192457" cy="192457"/>
                    </a:xfrm>
                    <a:prstGeom prst="ellipse">
                      <a:avLst/>
                    </a:prstGeom>
                    <a:solidFill>
                      <a:srgbClr val="B6D5F9"/>
                    </a:solidFill>
                    <a:ln w="15875"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pic>
                  <p:nvPicPr>
                    <p:cNvPr id="47" name="Picture 46"/>
                    <p:cNvPicPr>
                      <a:picLocks noChangeAspect="1"/>
                    </p:cNvPicPr>
                    <p:nvPr/>
                  </p:nvPicPr>
                  <p:blipFill>
                    <a:blip r:embed="rId9"/>
                    <a:srcRect l="7153" t="6902" b="-1"/>
                    <a:stretch>
                      <a:fillRect/>
                    </a:stretch>
                  </p:blipFill>
                  <p:spPr>
                    <a:xfrm>
                      <a:off x="6762296" y="2498937"/>
                      <a:ext cx="178692" cy="85693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34" name="Picture 33"/>
                  <p:cNvPicPr>
                    <a:picLocks noChangeAspect="1"/>
                  </p:cNvPicPr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7402253" y="2392322"/>
                    <a:ext cx="297917" cy="313308"/>
                  </a:xfrm>
                  <a:prstGeom prst="rect">
                    <a:avLst/>
                  </a:prstGeom>
                </p:spPr>
              </p:pic>
              <p:grpSp>
                <p:nvGrpSpPr>
                  <p:cNvPr id="35" name="Group 34"/>
                  <p:cNvGrpSpPr/>
                  <p:nvPr/>
                </p:nvGrpSpPr>
                <p:grpSpPr>
                  <a:xfrm>
                    <a:off x="4432991" y="3096782"/>
                    <a:ext cx="1348391" cy="624842"/>
                    <a:chOff x="4457391" y="2245569"/>
                    <a:chExt cx="1348391" cy="624842"/>
                  </a:xfrm>
                </p:grpSpPr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4457391" y="2245569"/>
                      <a:ext cx="1348391" cy="2803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Majority Action:</a:t>
                      </a:r>
                    </a:p>
                  </p:txBody>
                </p:sp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4742451" y="2565141"/>
                      <a:ext cx="1029432" cy="28031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</a:rPr>
                        <a:t>ranching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pic>
                  <p:nvPicPr>
                    <p:cNvPr id="42" name="Picture 41"/>
                    <p:cNvPicPr>
                      <a:picLocks noChangeAspect="1"/>
                    </p:cNvPicPr>
                    <p:nvPr/>
                  </p:nvPicPr>
                  <p:blipFill>
                    <a:blip r:embed="rId11">
                      <a:extLst>
                        <a:ext uri="{BEBA8EAE-BF5A-486C-A8C5-ECC9F3942E4B}">
                          <a14:imgProps xmlns:a14="http://schemas.microsoft.com/office/drawing/2010/main">
                            <a14:imgLayer r:embed="rId12">
                              <a14:imgEffect>
                                <a14:backgroundRemoval t="10000" b="90000" l="10000" r="90000"/>
                              </a14:imgEffect>
                            </a14:imgLayer>
                          </a14:imgProps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4593493" y="2557103"/>
                      <a:ext cx="297917" cy="313308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36" name="Rectangle 35"/>
                  <p:cNvSpPr/>
                  <p:nvPr/>
                </p:nvSpPr>
                <p:spPr>
                  <a:xfrm>
                    <a:off x="7128172" y="2701804"/>
                    <a:ext cx="853775" cy="2803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chemeClr val="tx1"/>
                        </a:solidFill>
                      </a:rPr>
                      <a:t>Score: 1</a:t>
                    </a:r>
                  </a:p>
                </p:txBody>
              </p:sp>
              <p:pic>
                <p:nvPicPr>
                  <p:cNvPr id="37" name="Picture 36"/>
                  <p:cNvPicPr>
                    <a:picLocks noChangeAspect="1"/>
                  </p:cNvPicPr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7402252" y="3228462"/>
                    <a:ext cx="297917" cy="285890"/>
                  </a:xfrm>
                  <a:prstGeom prst="rect">
                    <a:avLst/>
                  </a:prstGeom>
                </p:spPr>
              </p:pic>
              <p:sp>
                <p:nvSpPr>
                  <p:cNvPr id="38" name="Rectangle 37"/>
                  <p:cNvSpPr/>
                  <p:nvPr/>
                </p:nvSpPr>
                <p:spPr>
                  <a:xfrm>
                    <a:off x="4733451" y="4237740"/>
                    <a:ext cx="1029432" cy="28031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200" b="1" dirty="0">
                        <a:solidFill>
                          <a:schemeClr val="tx1"/>
                        </a:solidFill>
                      </a:rPr>
                      <a:t>Pruning</a:t>
                    </a:r>
                  </a:p>
                </p:txBody>
              </p:sp>
              <p:pic>
                <p:nvPicPr>
                  <p:cNvPr id="39" name="Picture 38"/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BEBA8EAE-BF5A-486C-A8C5-ECC9F3942E4B}">
                        <a14:imgProps xmlns:a14="http://schemas.microsoft.com/office/drawing/2010/main">
                          <a14:imgLayer r:embed="rId15">
                            <a14:imgEffect>
                              <a14:backgroundRemoval t="10000" b="90000" l="10000" r="90000">
                                <a14:foregroundMark x1="38571" y1="81250" x2="61429" y2="81250"/>
                                <a14:foregroundMark x1="37143" y1="83750" x2="62857" y2="81250"/>
                                <a14:foregroundMark x1="35714" y1="86250" x2="62857" y2="85000"/>
                                <a14:foregroundMark x1="35714" y1="81250" x2="65714" y2="83750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655972" y="4234952"/>
                    <a:ext cx="297917" cy="285890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22" name="Group 21"/>
                <p:cNvGrpSpPr/>
                <p:nvPr/>
              </p:nvGrpSpPr>
              <p:grpSpPr>
                <a:xfrm>
                  <a:off x="3968142" y="3373301"/>
                  <a:ext cx="2784633" cy="192457"/>
                  <a:chOff x="4166287" y="6230314"/>
                  <a:chExt cx="2784633" cy="192457"/>
                </a:xfrm>
              </p:grpSpPr>
              <p:cxnSp>
                <p:nvCxnSpPr>
                  <p:cNvPr id="23" name="Straight Arrow Connector 22"/>
                  <p:cNvCxnSpPr>
                    <a:endCxn id="24" idx="2"/>
                  </p:cNvCxnSpPr>
                  <p:nvPr/>
                </p:nvCxnSpPr>
                <p:spPr>
                  <a:xfrm>
                    <a:off x="4166287" y="6326543"/>
                    <a:ext cx="1731307" cy="0"/>
                  </a:xfrm>
                  <a:prstGeom prst="straightConnector1">
                    <a:avLst/>
                  </a:prstGeom>
                  <a:ln w="158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Oval 23"/>
                  <p:cNvSpPr/>
                  <p:nvPr/>
                </p:nvSpPr>
                <p:spPr>
                  <a:xfrm>
                    <a:off x="5897594" y="6230314"/>
                    <a:ext cx="192457" cy="192457"/>
                  </a:xfrm>
                  <a:prstGeom prst="ellipse">
                    <a:avLst/>
                  </a:prstGeom>
                  <a:solidFill>
                    <a:srgbClr val="B6D5F9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5" name="Straight Connector 24"/>
                  <p:cNvCxnSpPr>
                    <a:stCxn id="24" idx="6"/>
                  </p:cNvCxnSpPr>
                  <p:nvPr/>
                </p:nvCxnSpPr>
                <p:spPr>
                  <a:xfrm>
                    <a:off x="6090051" y="6326543"/>
                    <a:ext cx="219075" cy="0"/>
                  </a:xfrm>
                  <a:prstGeom prst="line">
                    <a:avLst/>
                  </a:prstGeom>
                  <a:ln w="158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" name="Oval 25"/>
                  <p:cNvSpPr/>
                  <p:nvPr/>
                </p:nvSpPr>
                <p:spPr>
                  <a:xfrm>
                    <a:off x="6308245" y="6230314"/>
                    <a:ext cx="192457" cy="192457"/>
                  </a:xfrm>
                  <a:prstGeom prst="ellipse">
                    <a:avLst/>
                  </a:prstGeom>
                  <a:solidFill>
                    <a:srgbClr val="B6D5F9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Oval 26"/>
                  <p:cNvSpPr/>
                  <p:nvPr/>
                </p:nvSpPr>
                <p:spPr>
                  <a:xfrm>
                    <a:off x="6758463" y="6230314"/>
                    <a:ext cx="192457" cy="192457"/>
                  </a:xfrm>
                  <a:prstGeom prst="ellipse">
                    <a:avLst/>
                  </a:prstGeom>
                  <a:solidFill>
                    <a:srgbClr val="B6D5F9"/>
                  </a:solidFill>
                  <a:ln w="15875"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pic>
                <p:nvPicPr>
                  <p:cNvPr id="28" name="Picture 27"/>
                  <p:cNvPicPr>
                    <a:picLocks noChangeAspect="1"/>
                  </p:cNvPicPr>
                  <p:nvPr/>
                </p:nvPicPr>
                <p:blipFill>
                  <a:blip r:embed="rId9"/>
                  <a:srcRect l="7153" t="6902" b="-1"/>
                  <a:stretch>
                    <a:fillRect/>
                  </a:stretch>
                </p:blipFill>
                <p:spPr>
                  <a:xfrm>
                    <a:off x="6543420" y="6281412"/>
                    <a:ext cx="178692" cy="85693"/>
                  </a:xfrm>
                  <a:prstGeom prst="rect">
                    <a:avLst/>
                  </a:prstGeom>
                </p:spPr>
              </p:pic>
            </p:grpSp>
          </p:grpSp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3943430" y="3610290"/>
                <a:ext cx="297917" cy="313308"/>
              </a:xfrm>
              <a:prstGeom prst="rect">
                <a:avLst/>
              </a:prstGeom>
            </p:spPr>
          </p:pic>
        </p:grpSp>
      </p:grpSp>
      <p:grpSp>
        <p:nvGrpSpPr>
          <p:cNvPr id="73" name="Group 72"/>
          <p:cNvGrpSpPr/>
          <p:nvPr/>
        </p:nvGrpSpPr>
        <p:grpSpPr>
          <a:xfrm>
            <a:off x="7834515" y="3158546"/>
            <a:ext cx="2817372" cy="1875332"/>
            <a:chOff x="7834515" y="1166644"/>
            <a:chExt cx="2817372" cy="1875332"/>
          </a:xfrm>
        </p:grpSpPr>
        <p:grpSp>
          <p:nvGrpSpPr>
            <p:cNvPr id="74" name="Group 73"/>
            <p:cNvGrpSpPr/>
            <p:nvPr/>
          </p:nvGrpSpPr>
          <p:grpSpPr>
            <a:xfrm>
              <a:off x="7834515" y="1166644"/>
              <a:ext cx="2817372" cy="1875332"/>
              <a:chOff x="7826420" y="517338"/>
              <a:chExt cx="2817372" cy="1875332"/>
            </a:xfrm>
          </p:grpSpPr>
          <p:sp>
            <p:nvSpPr>
              <p:cNvPr id="76" name="Rectangle 75"/>
              <p:cNvSpPr/>
              <p:nvPr/>
            </p:nvSpPr>
            <p:spPr>
              <a:xfrm>
                <a:off x="7826420" y="517338"/>
                <a:ext cx="2817372" cy="1875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7937428" y="929224"/>
                <a:ext cx="2595356" cy="96325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171450" indent="-1714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sz="1100" b="1" dirty="0">
                    <a:solidFill>
                      <a:schemeClr val="tx1"/>
                    </a:solidFill>
                  </a:rPr>
                  <a:t>One epoch of Supervision</a:t>
                </a:r>
              </a:p>
              <a:p>
                <a:pPr marL="171450" indent="-171450">
                  <a:spcAft>
                    <a:spcPts val="600"/>
                  </a:spcAft>
                  <a:buFont typeface="Wingdings" panose="05000000000000000000" pitchFamily="2" charset="2"/>
                  <a:buChar char="Ø"/>
                </a:pPr>
                <a:r>
                  <a:rPr lang="en-US" sz="1100" b="1" dirty="0">
                    <a:solidFill>
                      <a:schemeClr val="tx1"/>
                    </a:solidFill>
                  </a:rPr>
                  <a:t>weighted token-level cross-entropy loss:</a:t>
                </a:r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7953018" y="729202"/>
                <a:ext cx="2473210" cy="31889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dirty="0">
                    <a:solidFill>
                      <a:srgbClr val="444FCD"/>
                    </a:solidFill>
                  </a:rPr>
                  <a:t>3. S</a:t>
                </a:r>
                <a:r>
                  <a:rPr lang="en-US" altLang="zh-CN" sz="1600" b="1" dirty="0">
                    <a:solidFill>
                      <a:srgbClr val="444FCD"/>
                    </a:solidFill>
                  </a:rPr>
                  <a:t>upervised Fine-Tune</a:t>
                </a:r>
                <a:endParaRPr lang="en-US" sz="1600" b="1" dirty="0">
                  <a:solidFill>
                    <a:srgbClr val="444FCD"/>
                  </a:solidFill>
                </a:endParaRPr>
              </a:p>
            </p:txBody>
          </p:sp>
        </p:grpSp>
        <p:sp>
          <p:nvSpPr>
            <p:cNvPr id="75" name="Rectangle: Rounded Corners 74"/>
            <p:cNvSpPr/>
            <p:nvPr/>
          </p:nvSpPr>
          <p:spPr>
            <a:xfrm>
              <a:off x="7866703" y="1299285"/>
              <a:ext cx="2662030" cy="1725462"/>
            </a:xfrm>
            <a:prstGeom prst="roundRect">
              <a:avLst>
                <a:gd name="adj" fmla="val 3680"/>
              </a:avLst>
            </a:prstGeom>
            <a:noFill/>
            <a:ln w="19050">
              <a:solidFill>
                <a:srgbClr val="0E17C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cxnSp>
        <p:nvCxnSpPr>
          <p:cNvPr id="82" name="Straight Arrow Connector 81"/>
          <p:cNvCxnSpPr/>
          <p:nvPr/>
        </p:nvCxnSpPr>
        <p:spPr>
          <a:xfrm>
            <a:off x="7667596" y="2184826"/>
            <a:ext cx="204717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>
            <a:off x="9192332" y="3105452"/>
            <a:ext cx="0" cy="19761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Picture 8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63772" y="4404400"/>
            <a:ext cx="2515316" cy="504250"/>
          </a:xfrm>
          <a:prstGeom prst="rect">
            <a:avLst/>
          </a:prstGeom>
        </p:spPr>
      </p:pic>
      <p:pic>
        <p:nvPicPr>
          <p:cNvPr id="85" name="Picture 84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76486" y="2477262"/>
            <a:ext cx="2247042" cy="490148"/>
          </a:xfrm>
          <a:prstGeom prst="rect">
            <a:avLst/>
          </a:prstGeom>
        </p:spPr>
      </p:pic>
      <p:sp>
        <p:nvSpPr>
          <p:cNvPr id="86" name="Rectangle: Rounded Corners 85"/>
          <p:cNvSpPr/>
          <p:nvPr/>
        </p:nvSpPr>
        <p:spPr>
          <a:xfrm>
            <a:off x="1428750" y="1277580"/>
            <a:ext cx="6244680" cy="3756298"/>
          </a:xfrm>
          <a:prstGeom prst="roundRect">
            <a:avLst>
              <a:gd name="adj" fmla="val 2750"/>
            </a:avLst>
          </a:prstGeom>
          <a:noFill/>
          <a:ln w="19050">
            <a:solidFill>
              <a:srgbClr val="0E17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ectangle: Rounded Corners 86"/>
          <p:cNvSpPr/>
          <p:nvPr/>
        </p:nvSpPr>
        <p:spPr>
          <a:xfrm>
            <a:off x="5589439" y="3872243"/>
            <a:ext cx="1927691" cy="1017256"/>
          </a:xfrm>
          <a:prstGeom prst="roundRect">
            <a:avLst>
              <a:gd name="adj" fmla="val 7314"/>
            </a:avLst>
          </a:prstGeom>
          <a:solidFill>
            <a:srgbClr val="ECF1F9"/>
          </a:solidFill>
          <a:ln w="15875">
            <a:solidFill>
              <a:srgbClr val="0E17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tx1"/>
                </a:solidFill>
              </a:rPr>
              <a:t>Sample various actions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tx1"/>
                </a:solidFill>
              </a:rPr>
              <a:t>Branch majority actions</a:t>
            </a:r>
          </a:p>
          <a:p>
            <a:pPr marL="171450" indent="-171450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tx1"/>
                </a:solidFill>
              </a:rPr>
              <a:t>Repeat branching process for every step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23331" y="3131466"/>
            <a:ext cx="552971" cy="673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: Rounded Corners 85"/>
          <p:cNvSpPr/>
          <p:nvPr/>
        </p:nvSpPr>
        <p:spPr>
          <a:xfrm>
            <a:off x="1824977" y="3382394"/>
            <a:ext cx="4841875" cy="1865900"/>
          </a:xfrm>
          <a:prstGeom prst="roundRect">
            <a:avLst>
              <a:gd name="adj" fmla="val 4707"/>
            </a:avLst>
          </a:prstGeom>
          <a:solidFill>
            <a:schemeClr val="accent5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: Rounded Corners 85">
            <a:extLst>
              <a:ext uri="{FF2B5EF4-FFF2-40B4-BE49-F238E27FC236}">
                <a16:creationId xmlns:a16="http://schemas.microsoft.com/office/drawing/2014/main" id="{76FEAC4B-0716-C295-CCC4-9A9BC4F2D1E6}"/>
              </a:ext>
            </a:extLst>
          </p:cNvPr>
          <p:cNvSpPr/>
          <p:nvPr/>
        </p:nvSpPr>
        <p:spPr>
          <a:xfrm>
            <a:off x="7057591" y="3382395"/>
            <a:ext cx="1446316" cy="1865900"/>
          </a:xfrm>
          <a:prstGeom prst="roundRect">
            <a:avLst>
              <a:gd name="adj" fmla="val 4707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ectangle: Rounded Corners 85"/>
          <p:cNvSpPr/>
          <p:nvPr/>
        </p:nvSpPr>
        <p:spPr>
          <a:xfrm>
            <a:off x="1824977" y="1888943"/>
            <a:ext cx="6678930" cy="1374763"/>
          </a:xfrm>
          <a:prstGeom prst="roundRect">
            <a:avLst>
              <a:gd name="adj" fmla="val 4707"/>
            </a:avLst>
          </a:prstGeom>
          <a:solidFill>
            <a:schemeClr val="accent3">
              <a:lumMod val="20000"/>
              <a:lumOff val="80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" name="Straight Arrow Connector 51"/>
          <p:cNvCxnSpPr>
            <a:stCxn id="58" idx="3"/>
          </p:cNvCxnSpPr>
          <p:nvPr/>
        </p:nvCxnSpPr>
        <p:spPr>
          <a:xfrm flipV="1">
            <a:off x="2866377" y="3728762"/>
            <a:ext cx="499745" cy="59563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58" idx="3"/>
          </p:cNvCxnSpPr>
          <p:nvPr/>
        </p:nvCxnSpPr>
        <p:spPr>
          <a:xfrm flipV="1">
            <a:off x="2866377" y="4089442"/>
            <a:ext cx="511810" cy="23431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58" idx="3"/>
          </p:cNvCxnSpPr>
          <p:nvPr/>
        </p:nvCxnSpPr>
        <p:spPr>
          <a:xfrm>
            <a:off x="2866377" y="4323757"/>
            <a:ext cx="520065" cy="22352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oup 56"/>
          <p:cNvGrpSpPr/>
          <p:nvPr/>
        </p:nvGrpSpPr>
        <p:grpSpPr>
          <a:xfrm>
            <a:off x="3474072" y="3503337"/>
            <a:ext cx="469265" cy="771525"/>
            <a:chOff x="3388441" y="2303431"/>
            <a:chExt cx="464766" cy="771815"/>
          </a:xfrm>
        </p:grpSpPr>
        <p:sp>
          <p:nvSpPr>
            <p:cNvPr id="70" name="Rectangle: Rounded Corners 69"/>
            <p:cNvSpPr/>
            <p:nvPr/>
          </p:nvSpPr>
          <p:spPr>
            <a:xfrm>
              <a:off x="3388441" y="2314087"/>
              <a:ext cx="464766" cy="761159"/>
            </a:xfrm>
            <a:prstGeom prst="roundRect">
              <a:avLst>
                <a:gd name="adj" fmla="val 14513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Rectangle 70"/>
                <p:cNvSpPr/>
                <p:nvPr/>
              </p:nvSpPr>
              <p:spPr>
                <a:xfrm>
                  <a:off x="3543316" y="2303431"/>
                  <a:ext cx="227807" cy="3718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444FCD"/>
                    </a:solidFill>
                  </a:endParaRPr>
                </a:p>
              </p:txBody>
            </p:sp>
          </mc:Choice>
          <mc:Fallback xmlns="">
            <p:sp>
              <p:nvSpPr>
                <p:cNvPr id="71" name="Rectangle 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3316" y="2303431"/>
                  <a:ext cx="227807" cy="371819"/>
                </a:xfrm>
                <a:prstGeom prst="rect">
                  <a:avLst/>
                </a:prstGeom>
                <a:blipFill>
                  <a:blip r:embed="rId2"/>
                  <a:stretch>
                    <a:fillRect l="-1891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Rectangle 71"/>
                <p:cNvSpPr/>
                <p:nvPr/>
              </p:nvSpPr>
              <p:spPr>
                <a:xfrm>
                  <a:off x="3543316" y="2672959"/>
                  <a:ext cx="227807" cy="3718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444FCD"/>
                    </a:solidFill>
                  </a:endParaRPr>
                </a:p>
              </p:txBody>
            </p:sp>
          </mc:Choice>
          <mc:Fallback xmlns="">
            <p:sp>
              <p:nvSpPr>
                <p:cNvPr id="72" name="Rectangle 7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3316" y="2672959"/>
                  <a:ext cx="227807" cy="371819"/>
                </a:xfrm>
                <a:prstGeom prst="rect">
                  <a:avLst/>
                </a:prstGeom>
                <a:blipFill>
                  <a:blip r:embed="rId2"/>
                  <a:stretch>
                    <a:fillRect l="-1891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ectangle: Rounded Corners 57"/>
          <p:cNvSpPr/>
          <p:nvPr/>
        </p:nvSpPr>
        <p:spPr>
          <a:xfrm>
            <a:off x="2004047" y="3975777"/>
            <a:ext cx="862330" cy="695325"/>
          </a:xfrm>
          <a:prstGeom prst="roundRect">
            <a:avLst>
              <a:gd name="adj" fmla="val 12775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Same Prompt</a:t>
            </a:r>
          </a:p>
        </p:txBody>
      </p:sp>
      <p:cxnSp>
        <p:nvCxnSpPr>
          <p:cNvPr id="60" name="Straight Arrow Connector 59"/>
          <p:cNvCxnSpPr>
            <a:stCxn id="58" idx="3"/>
          </p:cNvCxnSpPr>
          <p:nvPr/>
        </p:nvCxnSpPr>
        <p:spPr>
          <a:xfrm>
            <a:off x="2866377" y="4323757"/>
            <a:ext cx="511810" cy="59563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1" name="Group 60"/>
          <p:cNvGrpSpPr/>
          <p:nvPr/>
        </p:nvGrpSpPr>
        <p:grpSpPr>
          <a:xfrm>
            <a:off x="3474072" y="4363762"/>
            <a:ext cx="469265" cy="771525"/>
            <a:chOff x="3388441" y="2303431"/>
            <a:chExt cx="464766" cy="771815"/>
          </a:xfrm>
        </p:grpSpPr>
        <p:sp>
          <p:nvSpPr>
            <p:cNvPr id="65" name="Rectangle: Rounded Corners 64"/>
            <p:cNvSpPr/>
            <p:nvPr/>
          </p:nvSpPr>
          <p:spPr>
            <a:xfrm>
              <a:off x="3388441" y="2314087"/>
              <a:ext cx="464766" cy="761159"/>
            </a:xfrm>
            <a:prstGeom prst="roundRect">
              <a:avLst>
                <a:gd name="adj" fmla="val 14513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Rectangle 65"/>
                <p:cNvSpPr/>
                <p:nvPr/>
              </p:nvSpPr>
              <p:spPr>
                <a:xfrm>
                  <a:off x="3538592" y="2303431"/>
                  <a:ext cx="227807" cy="3718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444FCD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Rectangle 6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592" y="2303431"/>
                  <a:ext cx="227807" cy="371819"/>
                </a:xfrm>
                <a:prstGeom prst="rect">
                  <a:avLst/>
                </a:prstGeom>
                <a:blipFill>
                  <a:blip r:embed="rId3"/>
                  <a:stretch>
                    <a:fillRect l="-1891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3538594" y="2680846"/>
                  <a:ext cx="227807" cy="37181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>
                    <a:solidFill>
                      <a:srgbClr val="444FCD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8594" y="2680846"/>
                  <a:ext cx="227807" cy="371819"/>
                </a:xfrm>
                <a:prstGeom prst="rect">
                  <a:avLst/>
                </a:prstGeom>
                <a:blipFill>
                  <a:blip r:embed="rId3"/>
                  <a:stretch>
                    <a:fillRect l="-1891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8" name="Straight Arrow Connector 47"/>
          <p:cNvCxnSpPr>
            <a:endCxn id="43" idx="2"/>
          </p:cNvCxnSpPr>
          <p:nvPr/>
        </p:nvCxnSpPr>
        <p:spPr>
          <a:xfrm>
            <a:off x="4051287" y="3879257"/>
            <a:ext cx="739775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045572" y="4070392"/>
            <a:ext cx="1042035" cy="4654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B</a:t>
            </a:r>
            <a:r>
              <a:rPr lang="en-US" altLang="zh-CN" sz="1400" b="1" dirty="0">
                <a:solidFill>
                  <a:schemeClr val="tx1"/>
                </a:solidFill>
              </a:rPr>
              <a:t>ranching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43" name="Oval 42"/>
          <p:cNvSpPr/>
          <p:nvPr/>
        </p:nvSpPr>
        <p:spPr>
          <a:xfrm>
            <a:off x="4791062" y="378273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395582" y="359096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5850242" y="359096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4" idx="2"/>
          </p:cNvCxnSpPr>
          <p:nvPr/>
        </p:nvCxnSpPr>
        <p:spPr>
          <a:xfrm>
            <a:off x="4045572" y="4767622"/>
            <a:ext cx="734060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4779632" y="4671102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7" name="Straight Arrow Connector 96"/>
          <p:cNvCxnSpPr>
            <a:stCxn id="43" idx="6"/>
            <a:endCxn id="105" idx="2"/>
          </p:cNvCxnSpPr>
          <p:nvPr/>
        </p:nvCxnSpPr>
        <p:spPr>
          <a:xfrm>
            <a:off x="4985372" y="3879257"/>
            <a:ext cx="414020" cy="18224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/>
          <p:cNvCxnSpPr>
            <a:stCxn id="43" idx="6"/>
            <a:endCxn id="45" idx="2"/>
          </p:cNvCxnSpPr>
          <p:nvPr/>
        </p:nvCxnSpPr>
        <p:spPr>
          <a:xfrm flipV="1">
            <a:off x="4985372" y="3686852"/>
            <a:ext cx="410210" cy="19177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/>
          <p:nvPr/>
        </p:nvSpPr>
        <p:spPr>
          <a:xfrm>
            <a:off x="5399392" y="3964982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5854052" y="3964982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/>
          <p:nvPr/>
        </p:nvSpPr>
        <p:spPr>
          <a:xfrm>
            <a:off x="5384152" y="447869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Oval 129"/>
          <p:cNvSpPr/>
          <p:nvPr/>
        </p:nvSpPr>
        <p:spPr>
          <a:xfrm>
            <a:off x="5838812" y="447869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4" name="Straight Arrow Connector 133"/>
          <p:cNvCxnSpPr>
            <a:endCxn id="136" idx="2"/>
          </p:cNvCxnSpPr>
          <p:nvPr/>
        </p:nvCxnSpPr>
        <p:spPr>
          <a:xfrm>
            <a:off x="4973942" y="4766987"/>
            <a:ext cx="414020" cy="18224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>
            <a:endCxn id="129" idx="2"/>
          </p:cNvCxnSpPr>
          <p:nvPr/>
        </p:nvCxnSpPr>
        <p:spPr>
          <a:xfrm flipV="1">
            <a:off x="4973942" y="4575217"/>
            <a:ext cx="410210" cy="19177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5387962" y="485334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Oval 136"/>
          <p:cNvSpPr/>
          <p:nvPr/>
        </p:nvSpPr>
        <p:spPr>
          <a:xfrm>
            <a:off x="5842622" y="4853347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7" name="Straight Arrow Connector 146"/>
          <p:cNvCxnSpPr/>
          <p:nvPr/>
        </p:nvCxnSpPr>
        <p:spPr>
          <a:xfrm flipV="1">
            <a:off x="6048997" y="3685582"/>
            <a:ext cx="1189990" cy="190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>
            <a:cxnSpLocks/>
          </p:cNvCxnSpPr>
          <p:nvPr/>
        </p:nvCxnSpPr>
        <p:spPr>
          <a:xfrm flipV="1">
            <a:off x="6048997" y="4057692"/>
            <a:ext cx="428625" cy="127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>
            <a:cxnSpLocks/>
            <a:stCxn id="137" idx="6"/>
          </p:cNvCxnSpPr>
          <p:nvPr/>
        </p:nvCxnSpPr>
        <p:spPr>
          <a:xfrm flipV="1">
            <a:off x="6036932" y="4940977"/>
            <a:ext cx="440690" cy="889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>
            <a:cxnSpLocks/>
            <a:stCxn id="130" idx="6"/>
          </p:cNvCxnSpPr>
          <p:nvPr/>
        </p:nvCxnSpPr>
        <p:spPr>
          <a:xfrm>
            <a:off x="6033122" y="4574900"/>
            <a:ext cx="832166" cy="3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>
            <a:cxnSpLocks/>
          </p:cNvCxnSpPr>
          <p:nvPr/>
        </p:nvCxnSpPr>
        <p:spPr>
          <a:xfrm flipV="1">
            <a:off x="6865288" y="4050707"/>
            <a:ext cx="0" cy="52419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>
            <a:cxnSpLocks/>
          </p:cNvCxnSpPr>
          <p:nvPr/>
        </p:nvCxnSpPr>
        <p:spPr>
          <a:xfrm>
            <a:off x="6865288" y="4050707"/>
            <a:ext cx="374969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: Rounded Corners 172"/>
          <p:cNvSpPr/>
          <p:nvPr/>
        </p:nvSpPr>
        <p:spPr>
          <a:xfrm>
            <a:off x="7241527" y="3509052"/>
            <a:ext cx="1056640" cy="699770"/>
          </a:xfrm>
          <a:prstGeom prst="roundRect">
            <a:avLst>
              <a:gd name="adj" fmla="val 12775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Weight</a:t>
            </a:r>
          </a:p>
        </p:txBody>
      </p:sp>
      <p:sp>
        <p:nvSpPr>
          <p:cNvPr id="175" name="Rectangle: Rounded Corners 174"/>
          <p:cNvSpPr/>
          <p:nvPr/>
        </p:nvSpPr>
        <p:spPr>
          <a:xfrm>
            <a:off x="7241527" y="4436787"/>
            <a:ext cx="1056640" cy="699770"/>
          </a:xfrm>
          <a:prstGeom prst="roundRect">
            <a:avLst>
              <a:gd name="adj" fmla="val 12775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Supervised Fine-Tune</a:t>
            </a:r>
          </a:p>
        </p:txBody>
      </p:sp>
      <p:cxnSp>
        <p:nvCxnSpPr>
          <p:cNvPr id="176" name="Straight Arrow Connector 175"/>
          <p:cNvCxnSpPr>
            <a:stCxn id="173" idx="2"/>
            <a:endCxn id="175" idx="0"/>
          </p:cNvCxnSpPr>
          <p:nvPr/>
        </p:nvCxnSpPr>
        <p:spPr>
          <a:xfrm>
            <a:off x="7769847" y="4208822"/>
            <a:ext cx="0" cy="22796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Oval 44"/>
          <p:cNvSpPr/>
          <p:nvPr/>
        </p:nvSpPr>
        <p:spPr>
          <a:xfrm>
            <a:off x="3366469" y="2056884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45"/>
          <p:cNvSpPr/>
          <p:nvPr/>
        </p:nvSpPr>
        <p:spPr>
          <a:xfrm>
            <a:off x="4655519" y="2059424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4438349" y="2110224"/>
            <a:ext cx="180340" cy="85725"/>
          </a:xfrm>
          <a:prstGeom prst="rect">
            <a:avLst/>
          </a:prstGeom>
        </p:spPr>
      </p:pic>
      <p:sp>
        <p:nvSpPr>
          <p:cNvPr id="6" name="Rectangle: Rounded Corners 57"/>
          <p:cNvSpPr/>
          <p:nvPr/>
        </p:nvSpPr>
        <p:spPr>
          <a:xfrm>
            <a:off x="2004048" y="2246749"/>
            <a:ext cx="830292" cy="549275"/>
          </a:xfrm>
          <a:prstGeom prst="roundRect">
            <a:avLst>
              <a:gd name="adj" fmla="val 12775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Rollout</a:t>
            </a:r>
          </a:p>
        </p:txBody>
      </p:sp>
      <p:cxnSp>
        <p:nvCxnSpPr>
          <p:cNvPr id="8" name="Straight Arrow Connector 51"/>
          <p:cNvCxnSpPr>
            <a:cxnSpLocks/>
            <a:stCxn id="6" idx="3"/>
            <a:endCxn id="3" idx="2"/>
          </p:cNvCxnSpPr>
          <p:nvPr/>
        </p:nvCxnSpPr>
        <p:spPr>
          <a:xfrm flipV="1">
            <a:off x="2834340" y="2153087"/>
            <a:ext cx="532129" cy="36830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52"/>
          <p:cNvCxnSpPr>
            <a:cxnSpLocks/>
            <a:stCxn id="6" idx="3"/>
            <a:endCxn id="12" idx="2"/>
          </p:cNvCxnSpPr>
          <p:nvPr/>
        </p:nvCxnSpPr>
        <p:spPr>
          <a:xfrm>
            <a:off x="2834340" y="2521387"/>
            <a:ext cx="532129" cy="317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53"/>
          <p:cNvCxnSpPr>
            <a:cxnSpLocks/>
            <a:stCxn id="6" idx="3"/>
            <a:endCxn id="15" idx="2"/>
          </p:cNvCxnSpPr>
          <p:nvPr/>
        </p:nvCxnSpPr>
        <p:spPr>
          <a:xfrm>
            <a:off x="2834340" y="2521387"/>
            <a:ext cx="532129" cy="38100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44"/>
          <p:cNvSpPr/>
          <p:nvPr/>
        </p:nvSpPr>
        <p:spPr>
          <a:xfrm>
            <a:off x="3366469" y="2428359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45"/>
          <p:cNvSpPr/>
          <p:nvPr/>
        </p:nvSpPr>
        <p:spPr>
          <a:xfrm>
            <a:off x="4655519" y="2430899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44"/>
          <p:cNvSpPr/>
          <p:nvPr/>
        </p:nvSpPr>
        <p:spPr>
          <a:xfrm>
            <a:off x="3366469" y="2806184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45"/>
          <p:cNvSpPr/>
          <p:nvPr/>
        </p:nvSpPr>
        <p:spPr>
          <a:xfrm>
            <a:off x="4655519" y="2808724"/>
            <a:ext cx="194310" cy="192405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/>
          <p:cNvCxnSpPr>
            <a:stCxn id="3" idx="6"/>
            <a:endCxn id="21" idx="2"/>
          </p:cNvCxnSpPr>
          <p:nvPr/>
        </p:nvCxnSpPr>
        <p:spPr>
          <a:xfrm flipV="1">
            <a:off x="3560843" y="2152477"/>
            <a:ext cx="226695" cy="63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44"/>
          <p:cNvSpPr/>
          <p:nvPr/>
        </p:nvSpPr>
        <p:spPr>
          <a:xfrm>
            <a:off x="3787606" y="2056883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3567162" y="2527311"/>
            <a:ext cx="22130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787576" y="2431082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43"/>
          <p:cNvCxnSpPr>
            <a:endCxn id="27" idx="2"/>
          </p:cNvCxnSpPr>
          <p:nvPr/>
        </p:nvCxnSpPr>
        <p:spPr>
          <a:xfrm flipV="1">
            <a:off x="3562113" y="2902412"/>
            <a:ext cx="226695" cy="63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44"/>
          <p:cNvSpPr/>
          <p:nvPr/>
        </p:nvSpPr>
        <p:spPr>
          <a:xfrm>
            <a:off x="3788876" y="2806183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43"/>
          <p:cNvCxnSpPr>
            <a:endCxn id="31" idx="2"/>
          </p:cNvCxnSpPr>
          <p:nvPr/>
        </p:nvCxnSpPr>
        <p:spPr>
          <a:xfrm flipV="1">
            <a:off x="3973593" y="2150572"/>
            <a:ext cx="226695" cy="63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44"/>
          <p:cNvSpPr/>
          <p:nvPr/>
        </p:nvSpPr>
        <p:spPr>
          <a:xfrm>
            <a:off x="4200356" y="2054343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24"/>
          <p:cNvCxnSpPr/>
          <p:nvPr/>
        </p:nvCxnSpPr>
        <p:spPr>
          <a:xfrm>
            <a:off x="3979912" y="2524771"/>
            <a:ext cx="22130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25"/>
          <p:cNvSpPr/>
          <p:nvPr/>
        </p:nvSpPr>
        <p:spPr>
          <a:xfrm>
            <a:off x="4200326" y="2428542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43"/>
          <p:cNvCxnSpPr>
            <a:endCxn id="35" idx="2"/>
          </p:cNvCxnSpPr>
          <p:nvPr/>
        </p:nvCxnSpPr>
        <p:spPr>
          <a:xfrm flipV="1">
            <a:off x="3974863" y="2899872"/>
            <a:ext cx="226695" cy="63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44"/>
          <p:cNvSpPr/>
          <p:nvPr/>
        </p:nvSpPr>
        <p:spPr>
          <a:xfrm>
            <a:off x="4201626" y="2803643"/>
            <a:ext cx="194414" cy="192457"/>
          </a:xfrm>
          <a:prstGeom prst="ellipse">
            <a:avLst/>
          </a:prstGeom>
          <a:solidFill>
            <a:srgbClr val="B6D5F9"/>
          </a:solidFill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172"/>
          <p:cNvSpPr/>
          <p:nvPr/>
        </p:nvSpPr>
        <p:spPr>
          <a:xfrm>
            <a:off x="5587352" y="2019358"/>
            <a:ext cx="988314" cy="1024044"/>
          </a:xfrm>
          <a:prstGeom prst="roundRect">
            <a:avLst>
              <a:gd name="adj" fmla="val 8293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Policy Update</a:t>
            </a:r>
          </a:p>
        </p:txBody>
      </p:sp>
      <p:cxnSp>
        <p:nvCxnSpPr>
          <p:cNvPr id="42" name="Straight Arrow Connector 156"/>
          <p:cNvCxnSpPr>
            <a:cxnSpLocks/>
            <a:stCxn id="16" idx="6"/>
          </p:cNvCxnSpPr>
          <p:nvPr/>
        </p:nvCxnSpPr>
        <p:spPr>
          <a:xfrm>
            <a:off x="4849829" y="2904927"/>
            <a:ext cx="740063" cy="3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156"/>
          <p:cNvCxnSpPr>
            <a:cxnSpLocks/>
            <a:stCxn id="4" idx="6"/>
          </p:cNvCxnSpPr>
          <p:nvPr/>
        </p:nvCxnSpPr>
        <p:spPr>
          <a:xfrm flipV="1">
            <a:off x="4849829" y="2150572"/>
            <a:ext cx="740063" cy="505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1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9866" y="3525475"/>
            <a:ext cx="300947" cy="313308"/>
          </a:xfrm>
          <a:prstGeom prst="rect">
            <a:avLst/>
          </a:prstGeom>
        </p:spPr>
      </p:pic>
      <p:pic>
        <p:nvPicPr>
          <p:cNvPr id="59" name="Picture 1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09866" y="4422095"/>
            <a:ext cx="300947" cy="313308"/>
          </a:xfrm>
          <a:prstGeom prst="rect">
            <a:avLst/>
          </a:prstGeom>
        </p:spPr>
      </p:pic>
      <p:pic>
        <p:nvPicPr>
          <p:cNvPr id="63" name="Picture 3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571" y1="81250" x2="61429" y2="81250"/>
                        <a14:foregroundMark x1="37143" y1="83750" x2="62857" y2="81250"/>
                        <a14:foregroundMark x1="35714" y1="86250" x2="62857" y2="85000"/>
                        <a14:foregroundMark x1="35714" y1="81250" x2="65714" y2="8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6985" y="3909959"/>
            <a:ext cx="300947" cy="285890"/>
          </a:xfrm>
          <a:prstGeom prst="rect">
            <a:avLst/>
          </a:prstGeom>
        </p:spPr>
      </p:pic>
      <p:pic>
        <p:nvPicPr>
          <p:cNvPr id="64" name="Picture 3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571" y1="81250" x2="61429" y2="81250"/>
                        <a14:foregroundMark x1="37143" y1="83750" x2="62857" y2="81250"/>
                        <a14:foregroundMark x1="35714" y1="86250" x2="62857" y2="85000"/>
                        <a14:foregroundMark x1="35714" y1="81250" x2="65714" y2="8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216985" y="4802769"/>
            <a:ext cx="300947" cy="285890"/>
          </a:xfrm>
          <a:prstGeom prst="rect">
            <a:avLst/>
          </a:prstGeom>
        </p:spPr>
      </p:pic>
      <p:pic>
        <p:nvPicPr>
          <p:cNvPr id="68" name="Picture 18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5778" y="1987582"/>
            <a:ext cx="300947" cy="313308"/>
          </a:xfrm>
          <a:prstGeom prst="rect">
            <a:avLst/>
          </a:prstGeom>
        </p:spPr>
      </p:pic>
      <p:pic>
        <p:nvPicPr>
          <p:cNvPr id="73" name="Picture 3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571" y1="81250" x2="61429" y2="81250"/>
                        <a14:foregroundMark x1="37143" y1="83750" x2="62857" y2="81250"/>
                        <a14:foregroundMark x1="35714" y1="86250" x2="62857" y2="85000"/>
                        <a14:foregroundMark x1="35714" y1="81250" x2="65714" y2="8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5277" y="2757511"/>
            <a:ext cx="300947" cy="285890"/>
          </a:xfrm>
          <a:prstGeom prst="rect">
            <a:avLst/>
          </a:prstGeom>
        </p:spPr>
      </p:pic>
      <p:cxnSp>
        <p:nvCxnSpPr>
          <p:cNvPr id="74" name="Straight Arrow Connector 156"/>
          <p:cNvCxnSpPr>
            <a:cxnSpLocks/>
          </p:cNvCxnSpPr>
          <p:nvPr/>
        </p:nvCxnSpPr>
        <p:spPr>
          <a:xfrm flipV="1">
            <a:off x="4855544" y="2521387"/>
            <a:ext cx="734348" cy="6032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9" name="Picture 38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8571" y1="81250" x2="61429" y2="81250"/>
                        <a14:foregroundMark x1="37143" y1="83750" x2="62857" y2="81250"/>
                        <a14:foregroundMark x1="35714" y1="86250" x2="62857" y2="85000"/>
                        <a14:foregroundMark x1="35714" y1="81250" x2="65714" y2="837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14642" y="2378416"/>
            <a:ext cx="300947" cy="285890"/>
          </a:xfrm>
          <a:prstGeom prst="rect">
            <a:avLst/>
          </a:prstGeom>
        </p:spPr>
      </p:pic>
      <p:pic>
        <p:nvPicPr>
          <p:cNvPr id="7" name="Picture 46">
            <a:extLst>
              <a:ext uri="{FF2B5EF4-FFF2-40B4-BE49-F238E27FC236}">
                <a16:creationId xmlns:a16="http://schemas.microsoft.com/office/drawing/2014/main" id="{C50A7F63-7B7D-93CB-9646-1A4303E8F0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4438349" y="2484239"/>
            <a:ext cx="180340" cy="85725"/>
          </a:xfrm>
          <a:prstGeom prst="rect">
            <a:avLst/>
          </a:prstGeom>
        </p:spPr>
      </p:pic>
      <p:pic>
        <p:nvPicPr>
          <p:cNvPr id="18" name="Picture 46">
            <a:extLst>
              <a:ext uri="{FF2B5EF4-FFF2-40B4-BE49-F238E27FC236}">
                <a16:creationId xmlns:a16="http://schemas.microsoft.com/office/drawing/2014/main" id="{6A20B15A-3BD1-C15B-2D82-98399F0C0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4438349" y="2863651"/>
            <a:ext cx="180340" cy="85725"/>
          </a:xfrm>
          <a:prstGeom prst="rect">
            <a:avLst/>
          </a:prstGeom>
        </p:spPr>
      </p:pic>
      <p:pic>
        <p:nvPicPr>
          <p:cNvPr id="20" name="Picture 46">
            <a:extLst>
              <a:ext uri="{FF2B5EF4-FFF2-40B4-BE49-F238E27FC236}">
                <a16:creationId xmlns:a16="http://schemas.microsoft.com/office/drawing/2014/main" id="{790367B1-9C5A-F465-17B5-BAADF7AE95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5637040" y="3642402"/>
            <a:ext cx="180340" cy="85725"/>
          </a:xfrm>
          <a:prstGeom prst="rect">
            <a:avLst/>
          </a:prstGeom>
        </p:spPr>
      </p:pic>
      <p:pic>
        <p:nvPicPr>
          <p:cNvPr id="29" name="Picture 46">
            <a:extLst>
              <a:ext uri="{FF2B5EF4-FFF2-40B4-BE49-F238E27FC236}">
                <a16:creationId xmlns:a16="http://schemas.microsoft.com/office/drawing/2014/main" id="{79FD6A55-7648-7C68-5D4B-D466C35B5E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5636325" y="4016417"/>
            <a:ext cx="180340" cy="85725"/>
          </a:xfrm>
          <a:prstGeom prst="rect">
            <a:avLst/>
          </a:prstGeom>
        </p:spPr>
      </p:pic>
      <p:pic>
        <p:nvPicPr>
          <p:cNvPr id="37" name="Picture 46">
            <a:extLst>
              <a:ext uri="{FF2B5EF4-FFF2-40B4-BE49-F238E27FC236}">
                <a16:creationId xmlns:a16="http://schemas.microsoft.com/office/drawing/2014/main" id="{384E161F-DC78-6382-A7A2-2406D977A4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5629658" y="4532354"/>
            <a:ext cx="180340" cy="85725"/>
          </a:xfrm>
          <a:prstGeom prst="rect">
            <a:avLst/>
          </a:prstGeom>
        </p:spPr>
      </p:pic>
      <p:pic>
        <p:nvPicPr>
          <p:cNvPr id="40" name="Picture 46">
            <a:extLst>
              <a:ext uri="{FF2B5EF4-FFF2-40B4-BE49-F238E27FC236}">
                <a16:creationId xmlns:a16="http://schemas.microsoft.com/office/drawing/2014/main" id="{6DA6DF77-7C6F-CA05-542A-2FBF137866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6212" b="90690" l="16437" r="90715">
                        <a14:foregroundMark x1="18841" y1="56061" x2="18841" y2="56061"/>
                        <a14:foregroundMark x1="78261" y1="57576" x2="78261" y2="57576"/>
                      </a14:backgroundRemoval>
                    </a14:imgEffect>
                  </a14:imgLayer>
                </a14:imgProps>
              </a:ext>
            </a:extLst>
          </a:blip>
          <a:srcRect l="7153" t="6902" b="-1"/>
          <a:stretch>
            <a:fillRect/>
          </a:stretch>
        </p:blipFill>
        <p:spPr>
          <a:xfrm>
            <a:off x="5624181" y="4906369"/>
            <a:ext cx="180340" cy="85725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7A0D0379-568E-CC2C-B771-EBDE7A814995}"/>
              </a:ext>
            </a:extLst>
          </p:cNvPr>
          <p:cNvSpPr/>
          <p:nvPr/>
        </p:nvSpPr>
        <p:spPr>
          <a:xfrm>
            <a:off x="394692" y="2379407"/>
            <a:ext cx="1354311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Agentic RL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44EE931-6664-9B76-24CD-87372CA521ED}"/>
              </a:ext>
            </a:extLst>
          </p:cNvPr>
          <p:cNvSpPr/>
          <p:nvPr/>
        </p:nvSpPr>
        <p:spPr>
          <a:xfrm>
            <a:off x="976524" y="4164312"/>
            <a:ext cx="785412" cy="3188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ENVS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746E05D-EA64-035C-FB71-F77D81FC492F}"/>
              </a:ext>
            </a:extLst>
          </p:cNvPr>
          <p:cNvCxnSpPr>
            <a:cxnSpLocks/>
            <a:endCxn id="114" idx="2"/>
          </p:cNvCxnSpPr>
          <p:nvPr/>
        </p:nvCxnSpPr>
        <p:spPr>
          <a:xfrm flipV="1">
            <a:off x="7568870" y="2803643"/>
            <a:ext cx="0" cy="34918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AB695F57-417B-769B-AA6F-2EF614065895}"/>
              </a:ext>
            </a:extLst>
          </p:cNvPr>
          <p:cNvCxnSpPr>
            <a:cxnSpLocks/>
            <a:endCxn id="6" idx="2"/>
          </p:cNvCxnSpPr>
          <p:nvPr/>
        </p:nvCxnSpPr>
        <p:spPr>
          <a:xfrm flipV="1">
            <a:off x="2419194" y="2796024"/>
            <a:ext cx="0" cy="35680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9895BA75-5971-8BAA-2BC9-F0E8E53A9FDC}"/>
              </a:ext>
            </a:extLst>
          </p:cNvPr>
          <p:cNvCxnSpPr>
            <a:cxnSpLocks/>
          </p:cNvCxnSpPr>
          <p:nvPr/>
        </p:nvCxnSpPr>
        <p:spPr>
          <a:xfrm>
            <a:off x="2411869" y="3150359"/>
            <a:ext cx="5157001" cy="2473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: Rounded Corners 172">
            <a:extLst>
              <a:ext uri="{FF2B5EF4-FFF2-40B4-BE49-F238E27FC236}">
                <a16:creationId xmlns:a16="http://schemas.microsoft.com/office/drawing/2014/main" id="{E9516B38-BE9F-6BA3-4AA3-4C0DEE4F6CA0}"/>
              </a:ext>
            </a:extLst>
          </p:cNvPr>
          <p:cNvSpPr/>
          <p:nvPr/>
        </p:nvSpPr>
        <p:spPr>
          <a:xfrm>
            <a:off x="6839572" y="2256208"/>
            <a:ext cx="1458595" cy="547435"/>
          </a:xfrm>
          <a:prstGeom prst="roundRect">
            <a:avLst>
              <a:gd name="adj" fmla="val 8293"/>
            </a:avLst>
          </a:prstGeom>
          <a:solidFill>
            <a:srgbClr val="B6D5F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Finish All Steps?</a:t>
            </a:r>
          </a:p>
        </p:txBody>
      </p:sp>
      <p:cxnSp>
        <p:nvCxnSpPr>
          <p:cNvPr id="124" name="Straight Arrow Connector 156">
            <a:extLst>
              <a:ext uri="{FF2B5EF4-FFF2-40B4-BE49-F238E27FC236}">
                <a16:creationId xmlns:a16="http://schemas.microsoft.com/office/drawing/2014/main" id="{3E744B9C-B5FE-52D1-6C11-A09B9E318526}"/>
              </a:ext>
            </a:extLst>
          </p:cNvPr>
          <p:cNvCxnSpPr>
            <a:cxnSpLocks/>
            <a:stCxn id="38" idx="3"/>
            <a:endCxn id="114" idx="1"/>
          </p:cNvCxnSpPr>
          <p:nvPr/>
        </p:nvCxnSpPr>
        <p:spPr>
          <a:xfrm flipV="1">
            <a:off x="6575666" y="2529926"/>
            <a:ext cx="263906" cy="1454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: Rounded Corners 85">
            <a:extLst>
              <a:ext uri="{FF2B5EF4-FFF2-40B4-BE49-F238E27FC236}">
                <a16:creationId xmlns:a16="http://schemas.microsoft.com/office/drawing/2014/main" id="{5F561C93-4F29-6EDA-5517-26AF6107428A}"/>
              </a:ext>
            </a:extLst>
          </p:cNvPr>
          <p:cNvSpPr/>
          <p:nvPr/>
        </p:nvSpPr>
        <p:spPr>
          <a:xfrm>
            <a:off x="10867901" y="5305824"/>
            <a:ext cx="515545" cy="403382"/>
          </a:xfrm>
          <a:prstGeom prst="roundRect">
            <a:avLst>
              <a:gd name="adj" fmla="val 13117"/>
            </a:avLst>
          </a:prstGeom>
          <a:solidFill>
            <a:schemeClr val="accent5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89FAD570-3FFE-F3AC-DE26-D54614CA5722}"/>
              </a:ext>
            </a:extLst>
          </p:cNvPr>
          <p:cNvSpPr/>
          <p:nvPr/>
        </p:nvSpPr>
        <p:spPr>
          <a:xfrm>
            <a:off x="11291226" y="5188000"/>
            <a:ext cx="1331840" cy="625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Data Collection</a:t>
            </a:r>
          </a:p>
        </p:txBody>
      </p:sp>
      <p:sp>
        <p:nvSpPr>
          <p:cNvPr id="144" name="Rectangle: Rounded Corners 85">
            <a:extLst>
              <a:ext uri="{FF2B5EF4-FFF2-40B4-BE49-F238E27FC236}">
                <a16:creationId xmlns:a16="http://schemas.microsoft.com/office/drawing/2014/main" id="{6AB1B630-D5FD-62CC-0A99-A4F21F8ED7C4}"/>
              </a:ext>
            </a:extLst>
          </p:cNvPr>
          <p:cNvSpPr/>
          <p:nvPr/>
        </p:nvSpPr>
        <p:spPr>
          <a:xfrm>
            <a:off x="10863088" y="4631128"/>
            <a:ext cx="515545" cy="403382"/>
          </a:xfrm>
          <a:prstGeom prst="roundRect">
            <a:avLst>
              <a:gd name="adj" fmla="val 13117"/>
            </a:avLst>
          </a:prstGeom>
          <a:solidFill>
            <a:schemeClr val="accent3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50FF2D54-FF53-6E08-115E-8693CD851259}"/>
              </a:ext>
            </a:extLst>
          </p:cNvPr>
          <p:cNvSpPr/>
          <p:nvPr/>
        </p:nvSpPr>
        <p:spPr>
          <a:xfrm>
            <a:off x="11286413" y="4513304"/>
            <a:ext cx="1331840" cy="625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Model Training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473FB666-1EDC-D9E5-16B2-0EA732777D39}"/>
              </a:ext>
            </a:extLst>
          </p:cNvPr>
          <p:cNvSpPr/>
          <p:nvPr/>
        </p:nvSpPr>
        <p:spPr>
          <a:xfrm>
            <a:off x="8242979" y="2202471"/>
            <a:ext cx="521920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Yes</a:t>
            </a: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4D9BA20-48CF-C236-8B2B-67FF4450D5A9}"/>
              </a:ext>
            </a:extLst>
          </p:cNvPr>
          <p:cNvSpPr/>
          <p:nvPr/>
        </p:nvSpPr>
        <p:spPr>
          <a:xfrm>
            <a:off x="7062194" y="2798507"/>
            <a:ext cx="521920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No</a:t>
            </a:r>
          </a:p>
        </p:txBody>
      </p:sp>
      <p:sp>
        <p:nvSpPr>
          <p:cNvPr id="187" name="Rectangle: Rounded Corners 85">
            <a:extLst>
              <a:ext uri="{FF2B5EF4-FFF2-40B4-BE49-F238E27FC236}">
                <a16:creationId xmlns:a16="http://schemas.microsoft.com/office/drawing/2014/main" id="{37734C0E-4250-17FD-B656-B0C60F8E548F}"/>
              </a:ext>
            </a:extLst>
          </p:cNvPr>
          <p:cNvSpPr/>
          <p:nvPr/>
        </p:nvSpPr>
        <p:spPr>
          <a:xfrm>
            <a:off x="10864289" y="5978666"/>
            <a:ext cx="515545" cy="403382"/>
          </a:xfrm>
          <a:prstGeom prst="roundRect">
            <a:avLst>
              <a:gd name="adj" fmla="val 13117"/>
            </a:avLst>
          </a:prstGeom>
          <a:solidFill>
            <a:schemeClr val="accent4">
              <a:lumMod val="20000"/>
              <a:lumOff val="80000"/>
            </a:schemeClr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02016550-3D8E-356C-7587-707516D32C2F}"/>
              </a:ext>
            </a:extLst>
          </p:cNvPr>
          <p:cNvSpPr/>
          <p:nvPr/>
        </p:nvSpPr>
        <p:spPr>
          <a:xfrm>
            <a:off x="11283958" y="5857895"/>
            <a:ext cx="1331840" cy="62527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Model Evaluation</a:t>
            </a: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1CB3B73F-C5FF-146E-A40F-972D7E958305}"/>
              </a:ext>
            </a:extLst>
          </p:cNvPr>
          <p:cNvGrpSpPr/>
          <p:nvPr/>
        </p:nvGrpSpPr>
        <p:grpSpPr>
          <a:xfrm>
            <a:off x="8991318" y="2468309"/>
            <a:ext cx="1418319" cy="2066905"/>
            <a:chOff x="8661295" y="2101095"/>
            <a:chExt cx="1418319" cy="2066905"/>
          </a:xfrm>
        </p:grpSpPr>
        <p:sp>
          <p:nvSpPr>
            <p:cNvPr id="171" name="Rectangle: Rounded Corners 57">
              <a:extLst>
                <a:ext uri="{FF2B5EF4-FFF2-40B4-BE49-F238E27FC236}">
                  <a16:creationId xmlns:a16="http://schemas.microsoft.com/office/drawing/2014/main" id="{9B74B3E6-CC01-BCDB-9A94-1C02D8698EF7}"/>
                </a:ext>
              </a:extLst>
            </p:cNvPr>
            <p:cNvSpPr/>
            <p:nvPr/>
          </p:nvSpPr>
          <p:spPr>
            <a:xfrm>
              <a:off x="8661295" y="2101095"/>
              <a:ext cx="1418319" cy="2066905"/>
            </a:xfrm>
            <a:prstGeom prst="roundRect">
              <a:avLst>
                <a:gd name="adj" fmla="val 6825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84E32DC-1E59-9E2B-4587-15CEFEE2D341}"/>
                </a:ext>
              </a:extLst>
            </p:cNvPr>
            <p:cNvSpPr/>
            <p:nvPr/>
          </p:nvSpPr>
          <p:spPr>
            <a:xfrm>
              <a:off x="8701415" y="2268841"/>
              <a:ext cx="1344811" cy="31889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Evaluate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244A6CC-03BD-C7B2-EC8F-B18FAB4BBA3B}"/>
                </a:ext>
              </a:extLst>
            </p:cNvPr>
            <p:cNvSpPr/>
            <p:nvPr/>
          </p:nvSpPr>
          <p:spPr>
            <a:xfrm>
              <a:off x="8692139" y="2521271"/>
              <a:ext cx="1350912" cy="1602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Bef>
                  <a:spcPts val="600"/>
                </a:spcBef>
              </a:pPr>
              <a:r>
                <a:rPr lang="en-US" sz="1500" b="1" dirty="0">
                  <a:solidFill>
                    <a:schemeClr val="tx1"/>
                  </a:solidFill>
                </a:rPr>
                <a:t>Full 300 tasks, Pass@8:</a:t>
              </a:r>
            </a:p>
            <a:p>
              <a:pPr algn="ctr">
                <a:lnSpc>
                  <a:spcPct val="125000"/>
                </a:lnSpc>
                <a:spcBef>
                  <a:spcPts val="600"/>
                </a:spcBef>
              </a:pPr>
              <a:r>
                <a:rPr lang="en-US" sz="1400" b="1" dirty="0" err="1">
                  <a:solidFill>
                    <a:schemeClr val="tx1"/>
                  </a:solidFill>
                </a:rPr>
                <a:t>OSWorld</a:t>
              </a:r>
              <a:endParaRPr lang="en-US" sz="1400" b="1" dirty="0">
                <a:solidFill>
                  <a:schemeClr val="tx1"/>
                </a:solidFill>
              </a:endParaRPr>
            </a:p>
            <a:p>
              <a:pPr algn="ctr">
                <a:lnSpc>
                  <a:spcPct val="125000"/>
                </a:lnSpc>
                <a:spcBef>
                  <a:spcPts val="600"/>
                </a:spcBef>
              </a:pPr>
              <a:r>
                <a:rPr lang="en-US" sz="1400" b="1" dirty="0" err="1">
                  <a:solidFill>
                    <a:schemeClr val="tx1"/>
                  </a:solidFill>
                </a:rPr>
                <a:t>OSWorld</a:t>
              </a:r>
              <a:r>
                <a:rPr lang="en-US" sz="1400" b="1" dirty="0">
                  <a:solidFill>
                    <a:schemeClr val="tx1"/>
                  </a:solidFill>
                </a:rPr>
                <a:t>-Noisy</a:t>
              </a:r>
            </a:p>
          </p:txBody>
        </p:sp>
      </p:grp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5E569E96-BDB8-FBF1-2510-71A23344FE76}"/>
              </a:ext>
            </a:extLst>
          </p:cNvPr>
          <p:cNvCxnSpPr>
            <a:cxnSpLocks/>
          </p:cNvCxnSpPr>
          <p:nvPr/>
        </p:nvCxnSpPr>
        <p:spPr>
          <a:xfrm>
            <a:off x="8304893" y="4794270"/>
            <a:ext cx="455329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ECA31CC6-4E96-90D6-F7A2-3AD0A47062B0}"/>
              </a:ext>
            </a:extLst>
          </p:cNvPr>
          <p:cNvCxnSpPr>
            <a:cxnSpLocks/>
          </p:cNvCxnSpPr>
          <p:nvPr/>
        </p:nvCxnSpPr>
        <p:spPr>
          <a:xfrm flipV="1">
            <a:off x="8763564" y="3838783"/>
            <a:ext cx="0" cy="963986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4B20FCD5-AE78-7D43-AC2B-A5F97535DE56}"/>
              </a:ext>
            </a:extLst>
          </p:cNvPr>
          <p:cNvCxnSpPr>
            <a:cxnSpLocks/>
          </p:cNvCxnSpPr>
          <p:nvPr/>
        </p:nvCxnSpPr>
        <p:spPr>
          <a:xfrm>
            <a:off x="8757927" y="3837800"/>
            <a:ext cx="230895" cy="983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2F6D22CA-F2CB-93E3-438D-292618C5014A}"/>
              </a:ext>
            </a:extLst>
          </p:cNvPr>
          <p:cNvCxnSpPr>
            <a:cxnSpLocks/>
          </p:cNvCxnSpPr>
          <p:nvPr/>
        </p:nvCxnSpPr>
        <p:spPr>
          <a:xfrm>
            <a:off x="8304893" y="2531702"/>
            <a:ext cx="45937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0D967ABF-AB4D-07DE-B40C-3792ED7423E5}"/>
              </a:ext>
            </a:extLst>
          </p:cNvPr>
          <p:cNvCxnSpPr>
            <a:cxnSpLocks/>
          </p:cNvCxnSpPr>
          <p:nvPr/>
        </p:nvCxnSpPr>
        <p:spPr>
          <a:xfrm flipV="1">
            <a:off x="8771422" y="2521387"/>
            <a:ext cx="0" cy="750129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3EB21787-5B5D-D8E1-9E4A-9C0A06C1769B}"/>
              </a:ext>
            </a:extLst>
          </p:cNvPr>
          <p:cNvCxnSpPr>
            <a:cxnSpLocks/>
          </p:cNvCxnSpPr>
          <p:nvPr/>
        </p:nvCxnSpPr>
        <p:spPr>
          <a:xfrm>
            <a:off x="8767453" y="3273659"/>
            <a:ext cx="220178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624ACC-0321-AAFF-025B-C59C814B0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056" y="3383572"/>
            <a:ext cx="2526485" cy="1565914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6DCA99-EC04-4B6F-05C9-DEBD5B9198D0}"/>
              </a:ext>
            </a:extLst>
          </p:cNvPr>
          <p:cNvSpPr/>
          <p:nvPr/>
        </p:nvSpPr>
        <p:spPr>
          <a:xfrm>
            <a:off x="2118178" y="790125"/>
            <a:ext cx="7294336" cy="2241145"/>
          </a:xfrm>
          <a:prstGeom prst="roundRect">
            <a:avLst>
              <a:gd name="adj" fmla="val 275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F583D-57F4-176B-5DAB-567F511100F4}"/>
              </a:ext>
            </a:extLst>
          </p:cNvPr>
          <p:cNvSpPr/>
          <p:nvPr/>
        </p:nvSpPr>
        <p:spPr>
          <a:xfrm>
            <a:off x="2219296" y="790125"/>
            <a:ext cx="6576408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ENVS vs. RL: Decoupling data collection from model training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F9A84C-EB79-302C-CED5-2D3BFCF273D1}"/>
              </a:ext>
            </a:extLst>
          </p:cNvPr>
          <p:cNvSpPr/>
          <p:nvPr/>
        </p:nvSpPr>
        <p:spPr>
          <a:xfrm>
            <a:off x="2118179" y="3120322"/>
            <a:ext cx="2828980" cy="1890963"/>
          </a:xfrm>
          <a:prstGeom prst="roundRect">
            <a:avLst>
              <a:gd name="adj" fmla="val 275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100636-92B0-78F9-7C57-88B1412CDDD7}"/>
              </a:ext>
            </a:extLst>
          </p:cNvPr>
          <p:cNvSpPr/>
          <p:nvPr/>
        </p:nvSpPr>
        <p:spPr>
          <a:xfrm>
            <a:off x="2219296" y="3115747"/>
            <a:ext cx="2286093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Compute accuracy frontier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149D554-3809-99D0-371C-824B98608C2E}"/>
              </a:ext>
            </a:extLst>
          </p:cNvPr>
          <p:cNvSpPr/>
          <p:nvPr/>
        </p:nvSpPr>
        <p:spPr>
          <a:xfrm>
            <a:off x="5048276" y="3121364"/>
            <a:ext cx="4364239" cy="1889922"/>
          </a:xfrm>
          <a:prstGeom prst="roundRect">
            <a:avLst>
              <a:gd name="adj" fmla="val 2750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74C06F-EF93-593E-E28E-92E913B4CA99}"/>
              </a:ext>
            </a:extLst>
          </p:cNvPr>
          <p:cNvSpPr/>
          <p:nvPr/>
        </p:nvSpPr>
        <p:spPr>
          <a:xfrm>
            <a:off x="5145761" y="3109908"/>
            <a:ext cx="1842764" cy="3188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(c)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OSWorld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-Noisy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098C5B8-499D-7A3D-DBB8-205850046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590" y="3422011"/>
            <a:ext cx="1559892" cy="87743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031093D2-FE22-BFAB-FD13-C13087861E42}"/>
              </a:ext>
            </a:extLst>
          </p:cNvPr>
          <p:cNvSpPr/>
          <p:nvPr/>
        </p:nvSpPr>
        <p:spPr>
          <a:xfrm>
            <a:off x="5242173" y="3464934"/>
            <a:ext cx="739007" cy="606260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BB2485-B905-DA47-5FB2-4483D331BC80}"/>
              </a:ext>
            </a:extLst>
          </p:cNvPr>
          <p:cNvSpPr/>
          <p:nvPr/>
        </p:nvSpPr>
        <p:spPr>
          <a:xfrm>
            <a:off x="6821452" y="3214270"/>
            <a:ext cx="2184076" cy="442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Injecting noise: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Simulating human interruption; </a:t>
            </a:r>
          </a:p>
          <a:p>
            <a:r>
              <a:rPr lang="en-US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model robustness.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FA0584-F53F-B01E-5673-261D861A5816}"/>
              </a:ext>
            </a:extLst>
          </p:cNvPr>
          <p:cNvSpPr/>
          <p:nvPr/>
        </p:nvSpPr>
        <p:spPr>
          <a:xfrm>
            <a:off x="5118505" y="4350179"/>
            <a:ext cx="1375170" cy="5849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Warning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 App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6C33EA3-D14E-2536-BA19-0637F03486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4729" t="18580" b="19155"/>
          <a:stretch>
            <a:fillRect/>
          </a:stretch>
        </p:blipFill>
        <p:spPr>
          <a:xfrm>
            <a:off x="8140701" y="1287148"/>
            <a:ext cx="1013761" cy="136868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CCD8FD45-2C5C-D4C3-623D-9D56421F1B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059" y="3741709"/>
            <a:ext cx="1559892" cy="87743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760C1593-4372-63C9-61C0-6EA4BFBD6720}"/>
              </a:ext>
            </a:extLst>
          </p:cNvPr>
          <p:cNvSpPr/>
          <p:nvPr/>
        </p:nvSpPr>
        <p:spPr>
          <a:xfrm>
            <a:off x="6472109" y="3772177"/>
            <a:ext cx="1399688" cy="450056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63ED1AFE-20E5-D2AE-5D61-4164BE7C51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89839" y="1069080"/>
            <a:ext cx="5523651" cy="1922447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F657A7C-0268-FC65-BBC5-E789997CF2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0097" y="4027685"/>
            <a:ext cx="1559892" cy="877439"/>
          </a:xfrm>
          <a:prstGeom prst="rect">
            <a:avLst/>
          </a:prstGeom>
          <a:ln w="15875">
            <a:solidFill>
              <a:schemeClr val="tx1"/>
            </a:solidFill>
          </a:ln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C8F5BC6F-E5D0-AD47-7F3C-31C4F547D42D}"/>
              </a:ext>
            </a:extLst>
          </p:cNvPr>
          <p:cNvSpPr/>
          <p:nvPr/>
        </p:nvSpPr>
        <p:spPr>
          <a:xfrm>
            <a:off x="8209569" y="4399389"/>
            <a:ext cx="420948" cy="163418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31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1121F2-3694-216B-DFFB-F7421577C46C}"/>
              </a:ext>
            </a:extLst>
          </p:cNvPr>
          <p:cNvSpPr/>
          <p:nvPr/>
        </p:nvSpPr>
        <p:spPr>
          <a:xfrm>
            <a:off x="2118178" y="809176"/>
            <a:ext cx="7294336" cy="2186975"/>
          </a:xfrm>
          <a:prstGeom prst="roundRect">
            <a:avLst>
              <a:gd name="adj" fmla="val 2750"/>
            </a:avLst>
          </a:prstGeom>
          <a:solidFill>
            <a:schemeClr val="bg1"/>
          </a:solidFill>
          <a:ln w="19050">
            <a:solidFill>
              <a:srgbClr val="40BBFD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4EA1895-1829-FB57-27C8-18FEC7223E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94"/>
          <a:stretch>
            <a:fillRect/>
          </a:stretch>
        </p:blipFill>
        <p:spPr>
          <a:xfrm>
            <a:off x="3177497" y="1046051"/>
            <a:ext cx="4826185" cy="192277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7993DD-FFC3-F420-7815-0643B93DBDA4}"/>
              </a:ext>
            </a:extLst>
          </p:cNvPr>
          <p:cNvSpPr/>
          <p:nvPr/>
        </p:nvSpPr>
        <p:spPr>
          <a:xfrm>
            <a:off x="2118178" y="3120322"/>
            <a:ext cx="2828980" cy="1890963"/>
          </a:xfrm>
          <a:prstGeom prst="roundRect">
            <a:avLst>
              <a:gd name="adj" fmla="val 2750"/>
            </a:avLst>
          </a:prstGeom>
          <a:solidFill>
            <a:schemeClr val="bg1"/>
          </a:solidFill>
          <a:ln w="19050">
            <a:solidFill>
              <a:srgbClr val="40BBFD"/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710792D-6B0D-E39A-F856-8A41648F9687}"/>
              </a:ext>
            </a:extLst>
          </p:cNvPr>
          <p:cNvSpPr/>
          <p:nvPr/>
        </p:nvSpPr>
        <p:spPr>
          <a:xfrm>
            <a:off x="5048276" y="3121364"/>
            <a:ext cx="4364239" cy="1889922"/>
          </a:xfrm>
          <a:prstGeom prst="roundRect">
            <a:avLst>
              <a:gd name="adj" fmla="val 2750"/>
            </a:avLst>
          </a:prstGeom>
          <a:solidFill>
            <a:schemeClr val="bg1"/>
          </a:solidFill>
          <a:ln w="19050">
            <a:solidFill>
              <a:schemeClr val="accent6">
                <a:lumMod val="60000"/>
                <a:lumOff val="40000"/>
              </a:schemeClr>
            </a:solidFill>
            <a:prstDash val="sysDot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5526EA-2D99-2C02-650F-27EB6D9E7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531" y="3383572"/>
            <a:ext cx="2526485" cy="1565914"/>
          </a:xfrm>
          <a:prstGeom prst="rect">
            <a:avLst/>
          </a:prstGeom>
        </p:spPr>
      </p:pic>
      <p:sp>
        <p:nvSpPr>
          <p:cNvPr id="8" name="Rounded Rectangle 16">
            <a:extLst>
              <a:ext uri="{FF2B5EF4-FFF2-40B4-BE49-F238E27FC236}">
                <a16:creationId xmlns:a16="http://schemas.microsoft.com/office/drawing/2014/main" id="{F7DAC2CC-CE53-1058-00AA-23A4BA1A47F5}"/>
              </a:ext>
            </a:extLst>
          </p:cNvPr>
          <p:cNvSpPr/>
          <p:nvPr/>
        </p:nvSpPr>
        <p:spPr>
          <a:xfrm>
            <a:off x="2389622" y="3083995"/>
            <a:ext cx="2286093" cy="273568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B6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(b) Compute accuracy frontier</a:t>
            </a:r>
          </a:p>
        </p:txBody>
      </p:sp>
      <p:sp>
        <p:nvSpPr>
          <p:cNvPr id="9" name="Rounded Rectangle 22">
            <a:extLst>
              <a:ext uri="{FF2B5EF4-FFF2-40B4-BE49-F238E27FC236}">
                <a16:creationId xmlns:a16="http://schemas.microsoft.com/office/drawing/2014/main" id="{E5F96F51-BDAC-2C93-1915-454C48C9B360}"/>
              </a:ext>
            </a:extLst>
          </p:cNvPr>
          <p:cNvSpPr/>
          <p:nvPr/>
        </p:nvSpPr>
        <p:spPr>
          <a:xfrm>
            <a:off x="6115523" y="3083995"/>
            <a:ext cx="2229744" cy="263545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(c) </a:t>
            </a:r>
            <a:r>
              <a:rPr lang="en-US" sz="12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OSWorld</a:t>
            </a:r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-Noisy Contribution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721778-9C17-679E-3145-AEA155A00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590" y="3608198"/>
            <a:ext cx="1542520" cy="867667"/>
          </a:xfrm>
          <a:prstGeom prst="rect">
            <a:avLst/>
          </a:prstGeom>
          <a:ln w="15875">
            <a:noFill/>
          </a:ln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9DC6EFD-2D44-7BF4-D48F-3733FEE3A582}"/>
              </a:ext>
            </a:extLst>
          </p:cNvPr>
          <p:cNvSpPr/>
          <p:nvPr/>
        </p:nvSpPr>
        <p:spPr>
          <a:xfrm>
            <a:off x="5242173" y="3648101"/>
            <a:ext cx="730777" cy="599508"/>
          </a:xfrm>
          <a:prstGeom prst="rect">
            <a:avLst/>
          </a:prstGeom>
          <a:noFill/>
          <a:ln w="444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2055582-46CF-4D61-C54C-C055374E48F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4729" t="18580" b="19155"/>
          <a:stretch>
            <a:fillRect/>
          </a:stretch>
        </p:blipFill>
        <p:spPr>
          <a:xfrm>
            <a:off x="8140701" y="1243438"/>
            <a:ext cx="1013761" cy="13686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70FDD6-2B96-C104-66C3-E70321114F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563" y="3758077"/>
            <a:ext cx="1542520" cy="867667"/>
          </a:xfrm>
          <a:prstGeom prst="rect">
            <a:avLst/>
          </a:prstGeom>
          <a:ln w="15875">
            <a:noFill/>
          </a:ln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8B89C5D-F63B-D6FE-8123-92F9244A376C}"/>
              </a:ext>
            </a:extLst>
          </p:cNvPr>
          <p:cNvSpPr/>
          <p:nvPr/>
        </p:nvSpPr>
        <p:spPr>
          <a:xfrm>
            <a:off x="6526613" y="3783785"/>
            <a:ext cx="1384101" cy="445044"/>
          </a:xfrm>
          <a:prstGeom prst="rect">
            <a:avLst/>
          </a:prstGeom>
          <a:noFill/>
          <a:ln w="444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9C3641E-1CD6-A1CB-A049-B218F2E58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0670" y="4059683"/>
            <a:ext cx="1542520" cy="867667"/>
          </a:xfrm>
          <a:prstGeom prst="rect">
            <a:avLst/>
          </a:prstGeom>
          <a:ln w="15875"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D092FC6-1FDA-3011-33BA-55C4CB61D703}"/>
              </a:ext>
            </a:extLst>
          </p:cNvPr>
          <p:cNvSpPr/>
          <p:nvPr/>
        </p:nvSpPr>
        <p:spPr>
          <a:xfrm>
            <a:off x="8359669" y="4423435"/>
            <a:ext cx="416732" cy="168654"/>
          </a:xfrm>
          <a:prstGeom prst="rect">
            <a:avLst/>
          </a:prstGeom>
          <a:noFill/>
          <a:ln w="444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AC205AA4-E1D2-2E34-BAAF-EB1919BB00D8}"/>
              </a:ext>
            </a:extLst>
          </p:cNvPr>
          <p:cNvSpPr/>
          <p:nvPr/>
        </p:nvSpPr>
        <p:spPr>
          <a:xfrm>
            <a:off x="3593734" y="771115"/>
            <a:ext cx="4343224" cy="263545"/>
          </a:xfrm>
          <a:prstGeom prst="roundRect">
            <a:avLst/>
          </a:prstGeom>
          <a:solidFill>
            <a:schemeClr val="bg1"/>
          </a:solidFill>
          <a:ln w="15875">
            <a:solidFill>
              <a:srgbClr val="B6D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(a) ENVS vs. RL: Decoupling data collection from model training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55498D0-7DD5-C754-9185-024B2167ECD7}"/>
              </a:ext>
            </a:extLst>
          </p:cNvPr>
          <p:cNvCxnSpPr>
            <a:cxnSpLocks/>
          </p:cNvCxnSpPr>
          <p:nvPr/>
        </p:nvCxnSpPr>
        <p:spPr>
          <a:xfrm>
            <a:off x="2313945" y="1869900"/>
            <a:ext cx="4637367" cy="0"/>
          </a:xfrm>
          <a:prstGeom prst="line">
            <a:avLst/>
          </a:prstGeom>
          <a:ln w="15875">
            <a:solidFill>
              <a:srgbClr val="3F0E2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7553A5B-B533-F3B1-8776-BBF885F159CB}"/>
              </a:ext>
            </a:extLst>
          </p:cNvPr>
          <p:cNvSpPr txBox="1"/>
          <p:nvPr/>
        </p:nvSpPr>
        <p:spPr>
          <a:xfrm>
            <a:off x="2238833" y="1299085"/>
            <a:ext cx="973608" cy="340519"/>
          </a:xfrm>
          <a:prstGeom prst="round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CN" sz="1400" dirty="0"/>
              <a:t>Agentic RL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B0C7B3-E652-D365-236D-620D62C61E10}"/>
              </a:ext>
            </a:extLst>
          </p:cNvPr>
          <p:cNvSpPr txBox="1"/>
          <p:nvPr/>
        </p:nvSpPr>
        <p:spPr>
          <a:xfrm>
            <a:off x="5230590" y="3328213"/>
            <a:ext cx="3999652" cy="305693"/>
          </a:xfrm>
          <a:prstGeom prst="rightArrow">
            <a:avLst>
              <a:gd name="adj1" fmla="val 50000"/>
              <a:gd name="adj2" fmla="val 56232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32000">
                <a:schemeClr val="accent6">
                  <a:lumMod val="40000"/>
                  <a:lumOff val="60000"/>
                </a:schemeClr>
              </a:gs>
              <a:gs pos="72000">
                <a:schemeClr val="accent6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0" scaled="1"/>
            <a:tileRect/>
          </a:gradFill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Injecting noise, simulating human interruption, eval robustness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5E879C-927F-4512-595C-24A35C32E9C9}"/>
              </a:ext>
            </a:extLst>
          </p:cNvPr>
          <p:cNvSpPr/>
          <p:nvPr/>
        </p:nvSpPr>
        <p:spPr>
          <a:xfrm>
            <a:off x="5152933" y="4449920"/>
            <a:ext cx="1417674" cy="4422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76200" dir="2700000" algn="tl" rotWithShape="0">
              <a:schemeClr val="accent6">
                <a:lumMod val="60000"/>
                <a:lumOff val="4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Noise type: pop-ups, resizing, concurrent app, etc.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E0273BA-ECE0-0806-82C0-77B2AF31E6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8056" y="2069303"/>
            <a:ext cx="657230" cy="742955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B27E1B0-D5AD-E0D8-9CB3-BACF1B892663}"/>
              </a:ext>
            </a:extLst>
          </p:cNvPr>
          <p:cNvSpPr txBox="1"/>
          <p:nvPr/>
        </p:nvSpPr>
        <p:spPr>
          <a:xfrm>
            <a:off x="2188942" y="2243851"/>
            <a:ext cx="1119414" cy="340519"/>
          </a:xfrm>
          <a:prstGeom prst="round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 dirty="0"/>
              <a:t>ENVS (Ours)</a:t>
            </a:r>
          </a:p>
        </p:txBody>
      </p:sp>
    </p:spTree>
    <p:extLst>
      <p:ext uri="{BB962C8B-B14F-4D97-AF65-F5344CB8AC3E}">
        <p14:creationId xmlns:p14="http://schemas.microsoft.com/office/powerpoint/2010/main" val="1713691526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228</Words>
  <Application>Microsoft Office PowerPoint</Application>
  <PresentationFormat>Widescreen</PresentationFormat>
  <Paragraphs>70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Cambria Math</vt:lpstr>
      <vt:lpstr>Times New Roman</vt:lpstr>
      <vt:lpstr>Wingdings</vt:lpstr>
      <vt:lpstr>WPS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Yincheng Zhou</dc:creator>
  <cp:lastModifiedBy>Yincheng Zhou</cp:lastModifiedBy>
  <cp:revision>20</cp:revision>
  <dcterms:created xsi:type="dcterms:W3CDTF">2023-08-09T12:44:00Z</dcterms:created>
  <dcterms:modified xsi:type="dcterms:W3CDTF">2026-06-18T06:28:01Z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E2103853400D4DDAB7F358874DF55599_12</vt:lpwstr>
  </property>
</Properties>
</file>